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data" id="{aa170a3b-6fae-a891-0553-7edfa8d6f186}">
          <p14:sldIdLst>
            <p14:sldId id="256"/>
            <p14:sldId id="257"/>
            <p14:sldId id="258"/>
            <p14:sldId id="259"/>
          </p14:sldIdLst>
        </p14:section>
        <p14:section name="Validation and models" id="{03334096-10e0-b35e-619c-005412d2a066}">
          <p14:sldIdLst>
            <p14:sldId id="260"/>
            <p14:sldId id="261"/>
            <p14:sldId id="262"/>
          </p14:sldIdLst>
        </p14:section>
        <p14:section name="Results and explainability" id="{6e5e5b5c-0abc-f2f0-5e83-43b1c3d8ac56}">
          <p14:sldIdLst>
            <p14:sldId id="263"/>
            <p14:sldId id="264"/>
            <p14:sldId id="265"/>
            <p14:sldId id="266"/>
            <p14:sldId id="267"/>
            <p14:sldId id="268"/>
          </p14:sldIdLst>
        </p14:section>
        <p14:section name="Bias and the test set" id="{a6b50769-bef8-be43-2e92-44cd6ee0ba71}">
          <p14:sldIdLst>
            <p14:sldId id="269"/>
            <p14:sldId id="270"/>
            <p14:sldId id="271"/>
          </p14:sldIdLst>
        </p14:section>
        <p14:section name="Deployment and ethics" id="{d33e55fe-a9da-ffd3-ab35-5547c0c44f56}">
          <p14:sldIdLst>
            <p14:sldId id="272"/>
            <p14:sldId id="273"/>
            <p14:sldId id="274"/>
          </p14:sldIdLst>
        </p14:section>
        <p14:section name="Close" id="{4ac12c1f-b988-f329-8fc0-9ac7318df204}">
          <p14:sldIdLst>
            <p14:sldId id="275"/>
          </p14:sldIdLst>
        </p14:section>
        <p14:section name="References" id="{692d1c7d-b5d5-8096-b11f-523646b66970}">
          <p14:sldIdLst>
            <p14:sldId id="276"/>
          </p14:sldIdLst>
        </p14:section>
        <p14:section name="Backup" id="{27fe8daf-80f4-a50b-51e1-41b3e7af462e}">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Zee Mehmood. This presentation compares classical machine learning with deep learning on a computer vision task. Blissymbolics is a written language made of symbols. Non-speaking people use it to communicate, often through a communication aid. Every Bliss symbol belongs to a word class: a thing, an action, a person or a description. On screen are three random symbols from each class.
My question has two parts. Can a model read the word class off the drawing alone? And if it can, does deep learning earn its extra cost over a classical model? The short answer is that both get there, but the classical model only got there because I used how Bliss is actually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BCI, the organisation that looks after Bliss, colour codes every symbol, and the colours line up with the four word classes. What makes this interesting is that the class is often written into the drawing itself. Actions carry a small upward mark, boxed in red. Descriptions carry a small downward mark, in green. People usually start with the person shape, boxed in blue. Things carry no mark at all. These rules come from BCI's own Fundamental Rules, clauses 4.3.3 and 6.3.
So in theory the answer is sitting in the picture. In practice those marks are tiny, about five pixels high, and some symbols carry no mark at all. That tension comes back throughout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data, I went to the source rather than a scraped copy: the official BCI Authorised Vocabulary, July 2026 release. It's licensed under Creative Commons BY-SA 4.0, so I can use it for study as long as I credit BCI and say what I changed. I kept the four content-word classes, which leaves 6,015 symbols.
Machine learning has been used on Bliss images before, to generate symbols in IDRC's Baby Bliss Bot, and Karlsson's 2026 thesis predicted attributes of a different symbol set, ARASAAC. In a bounded search, I didn't find any work classifying Bliss symbols into word classes.
The chart shows the catch. Seven in ten symbols are things. A model that always guessed 'thing' would get 71% accuracy but only 0.21 macro F1. Macro F1 combines precision and recall for each class and averages them, so every class counts equally. That's my headline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symbol arrives as an SVG drawing, and widths vary hugely. The two usual tricks both fail here. Stretching into a square bends the shapes, as you can see with 'raindrop'. Shrinking to fit keeps the shape, but makes wide symbols like 'kiddush' tiny, and their marks with them.
So I drew every symbol at one shared scale. The Bliss grid is always 64 pixels tall, and the width follows, padded onto a 64 by 264 canvas. Nothing is bent and nothing is shrunk. I adapted this from Baby Bliss Bot, which faced the same problem preparing images for its generator.
I also ran a pixel-level duplicate check. It found three pairs of identical drawings, which I kept together in the split so they couldn't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test this fairly? First, I held back 10% of the symbols as a test set and didn't touch it until the very end. The rest went into five-fold cross-validation, stratified so every fold keeps the same class mix. Validation matters because a model scored on data it has seen measures memory, not generalisation, and hides overfitting.
But Bliss has a trap. Symbols are built from each other. With a random split, 51% of validation symbols are built from, or into, a symbol in training, so a model could score by recognising the shared part. So I grouped related symbols into families, 2,867 clusters found with the Louvain method, and kept each family on one side of every split. That drops the overlap to 3%. The scores come out lower, but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three approaches, on the same images and the same folds. The classical model is HOG plus an SVM. HOG describes the direction of the edges in small eight-by-eight patches, which suits line drawings: the strokes are the whole image, so edge direction carries most of the information. The SVM then separates the classes, and its settings were tuned by a grid search inside each training fold, so the validation fold never influenced them. An SVM is a strong, well-understood classifier for features like these, and it's cheap to train.
For deep learning I trained two models. A small CNN built from scratch, to see what a modest network learns on its own. And ResNet18, pretrained on 1.2 million photos and fine-tuned on Bliss, to test whether knowledge borrowed from photos helps with drawings. I used scikit-learn for the classical side and PyTorch for the deep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rate is the setting reviewers question most, so for the small CNN I chose it with Smith's range test rather than guessing. The rate rises over 500 batches while the loss is recorded. Too small, and the loss sits flat at guessing level. Then it falls fast, and past a point it blows up. I picked 0.05, inside the fast fall and short of the blow-up.
Training also used early stopping: each model keeps its weights from the epoch with the lowest held-back loss, before overfitting starts. There's a backup slide showing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comparison. All scores are cross-validated macro F1 on the family split.
Start with the hollow dots. In the first round, ResNet18 scored 0.968, HOG plus SVM 0.922, and the small CNN 0.892. Pretrained deep learning led.
Then I looked at why the small CNN was behind. It was calling too many symbols 'people'. Its class weights made a people mistake cost eight times a things mistake, so when unsure, it said 'people'. Square-rooting the weights lifted it by 0.026.
Then the big one. Bliss rules say the first character of a symbol sets its category. HOG describes fixed patches, so with a centred drawing, that first character lands in different patches depending on the symbol's width. Drawing every symbol from the left edge lifted HOG plus SVM to 0.961. It also lifted the small CNN, but did nothing for ResNet18, because its last layer averages each feature over the whole image, so position doesn't matter to it.
Finally, the grey dot. Frozen photo features with an SVM on top scored worst, 0.880. So ResNet18's strength isn't its photo features; it's fine-tuning them on Bliss. That matches Singer and colleagues, where an ImageNet network scored 0.14 on drawings until it was fine-tuned.
Every change was written down with its success rule before it ran, which is why I trust these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left-aligning worked. These are two people symbols, and the orange box is the person shape at the start of each. Centred, that shape lands in different cells, because the symbols are different widths, so to the SVM they're different features. Left-aligned, the person shape always sits in the same first cells, so the SVM can learn one consistent pattern. It's a small change to the preprocessing, but it comes straight from BCI's rule that the first character sets the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BCI also lets man, woman, doctor and others stand in for 'person' as the first character. The centred SVM found only 68% of those symbols. Left-aligned, it found 82%. Single-character people symbols improved too, from 63% to 73%. ResNet18, in green, is still ahead on every group, but the gap closed sharply. This is domain knowledge doing work that a bigger model would otherwise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LIME answers that by hiding strokes one at a time and watching how the prediction changes. The orange strokes are the two that push hardest towards the true class.
I checked 30 action and description symbols. For both headline models, the indicator mark was the most important stroke 30 times out of 30. Grad-CAM, which shows where a CNN's attention falls, tells the same story on the small CNN: 56% of its attention for actions sits in the indicator band, four and a half times what you'd expect by chance. For people, both models look at the person shape.
So two very different models learned the rule a person would use. That's reassuring, and it also tells us where they'll fail: when the mark is missing or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brings me to errors. Both models are close to perfect on things, actions and descriptions. Both mostly miss people, and when they do, they call them things. The SVM misses 13% of people symbols, ResNet18 6%. In this application, that's the mistake that matters most, and I'll come back to it under ethics. Accuracy alone would have hidden this, because people are only 9%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ten model versions, 26 symbols beat every one. Look at 'Holy Infant' or 'metaphor'. Many carry no visible mark for their class: the class comes from what the word means, not how it's drawn. No image model can fix those. That's a limit of the task, not of a particular model, and it points to my next step: adding the symbol's meaning, not just its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bias, my subgroups are symbol types, because the data describes symbols, not people. The natural risk was width: a model reading fixed patches could treat wide symbols worse. And it did. Before left-aligning, the SVM scored 0.969 accuracy on narrow symbols but 0.932 on wide ones. Left-aligned, it's 0.978 against 0.971. The change that made it more accurate also made it fairer. ResNet18 was flat across every subgroup, which is one genuine advantage of the deep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test set. Before opening it, I locked every model and picked the two headline models on cross-validation, marked with stars: the softened ResNet18, and the softened, left-aligned SVM. Then I ran each locked model once on 602 symbols none of them had ever seen. That's the real demonstration of how they behave on new data.
They finish level: 0.936 for ResNet18 and 0.945 for the SVM, and a paired randomisation test gives p equals 0.55. No real difference.
The original ResNet18 actually scored best here, 0.971. I didn't switch to it, because picking a winner after seeing the test is exactly what locking prevents.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did the deep model drop? Fourteen of the 53 people symbols in the test set are one family, the Norse gods: Woden, Thor, Sif, Loki and others. Because my split keeps families together, no model trained on them. The softened ResNet18 found only 36%; the original found 93%, and the SVM 79%.
A random split would have hidden this. So a bad-looking result is actually the strongest evidence that the split was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which model would I deploy? One caveat first: these timings come from different machines, a Colab GPU for the deep models and my laptop CPU for the others, so read this as the shape of the trade-off, not exact speeds.
On unseen data the two headline models are level, so cost decides. The SVM needs no GPU, it's cheap to retrain, and every step can be explained. It's slower per symbol on a CPU, but for a few hundred new symbols that's seconds. If the accuracy gap were real, deep learning would earn its cost. Here it isn't, so I'd ship the SVM.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realistic use is a quality check for BCI. When new symbols are added, each one is rendered with the same pipeline and classified by the SVM. If the prediction doesn't match the colour BCI gave it, the symbol is flagged for a person to review. The duplicate check already found one real case: 'improve' and 'improvement' are the same drawing with different colours.
The model is small, so it could run as a scheduled job or behind a simple API, on a service like Azure ML or SageMaker if BCI wanted it hosted. I'd monitor the flag rate and how often reviewers agree, and retrain with each vocabulary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first: the data holds no personal information. These are symbols published openly by BCI, and my dissertation's data was kept firewalled from this work.
The real ethical risk is in the mistakes. A false positive, a correct symbol flagged by mistake, costs a reviewer a few seconds. A false negative, a wrong colour slipping through, reaches users. Calling a person a thing is the worst error, because for someone who builds sentences from these symbols, word class shapes how they're put together. and it's the class the models find hardest. And whole families can fail at once, as the Norse gods showed, which an average score hides.
So the tool flags and suggests, a person decides, and its weak spots are published alongside it. The stakeholders are non-speaking users and their families, speech and language therapists, NHS AAC services, symbol software makers, and BCI.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First, domain knowledge beat model size: one change based on how Bliss is written closed most of the gap to a pretrained network. Second, one loss setting moved a model more than the gap between model types. Third, my own explanations were wrong twice; I first blamed unseen families for the small CNN, when it was mostly the class weights. Pre-declaring every test is what caught it.
Next, I'd combine the drawing with the symbol's English word, to fix the cases where meaning decides the class, and try the method on other symbol sets.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All ten models with fold-to-fold spread. Starred models were chosen on cross-validation before the test set was opened. The ResNet18 vs SVM gap in cross-validation is borderline, not significant: p = 0.0028 against a corrected line of 0.0024.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Early stopping: training loss keeps falling while the held-back loss turns up. The small CNN keeps epoch 8, ResNet18 epoch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Average ink per image row, 300 symbols per class. Only actions and descriptions use the indicator band above the main drawing, which is why Grad-CAM attention in that band means the model is reading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4206240" cy="182880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ph idx="101" type="body" hasCustomPrompt="1"/>
          </p:nvPr>
        </p:nvSpPr>
        <p:spPr>
          <a:xfrm>
            <a:off x="548640" y="2788920"/>
            <a:ext cx="4206240" cy="1463040"/>
          </a:xfrm>
          <a:prstGeom prst="rect">
            <a:avLst/>
          </a:prstGeom>
          <a:noFill/>
          <a:ln/>
        </p:spPr>
        <p:txBody>
          <a:bodyPr wrap="square" rtlCol="0"/>
          <a:lstStyle>
            <a:lvl1pPr indent="0" marL="0">
              <a:buNone/>
              <a:defRPr lang="en-US" sz="1500" dirty="0">
                <a:solidFill>
                  <a:srgbClr val="D6DCE5"/>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MAGE">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400" b="1" dirty="0">
                <a:solidFill>
                  <a:schemeClr val="tx1"/>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AB4C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4206240" cy="1828800"/>
          </a:xfrm>
          <a:prstGeom prst="rect">
            <a:avLst/>
          </a:prstGeom>
          <a:noFill/>
          <a:ln/>
        </p:spPr>
        <p:txBody>
          <a:bodyPr wrap="square" lIns="0" tIns="0" rIns="0" bIns="0" rtlCol="0" anchor="b"/>
          <a:lstStyle/>
          <a:p>
            <a:pPr algn="l" indent="0" marL="0">
              <a:buNone/>
            </a:pPr>
            <a:r>
              <a:rPr lang="en-US" sz="3200" b="1" dirty="0">
                <a:solidFill>
                  <a:schemeClr val="bg1"/>
                </a:solidFill>
                <a:latin typeface="Arial" pitchFamily="34" charset="0"/>
                <a:ea typeface="Arial" pitchFamily="34" charset="-122"/>
                <a:cs typeface="Arial" pitchFamily="34" charset="-120"/>
              </a:rPr>
              <a:t>Can a model read the word class off a Bliss symbol?</a:t>
            </a:r>
            <a:endParaRPr lang="en-US" sz="3200" dirty="0"/>
          </a:p>
        </p:txBody>
      </p:sp>
      <p:sp>
        <p:nvSpPr>
          <p:cNvPr id="3" name="Text 0"/>
          <p:cNvSpPr/>
          <p:nvPr>
            <p:ph idx="101" type="body" hasCustomPrompt="1"/>
          </p:nvPr>
        </p:nvSpPr>
        <p:spPr>
          <a:xfrm>
            <a:off x="548640" y="2788920"/>
            <a:ext cx="4206240" cy="1463040"/>
          </a:xfrm>
          <a:prstGeom prst="rect">
            <a:avLst/>
          </a:prstGeom>
          <a:noFill/>
          <a:ln/>
        </p:spPr>
        <p:txBody>
          <a:bodyPr wrap="square" lIns="0" tIns="0" rIns="0" bIns="0" rtlCol="0" anchor="t"/>
          <a:lstStyle/>
          <a:p>
            <a:pPr indent="0" marL="0">
              <a:buNone/>
            </a:pPr>
            <a:r>
              <a:rPr lang="en-US" sz="1500" dirty="0">
                <a:solidFill>
                  <a:srgbClr val="D6DCE5"/>
                </a:solidFill>
              </a:rPr>
              <a:t>Classical machine learning vs deep learning on Blissymbolics</a:t>
            </a:r>
            <a:endParaRPr lang="en-US" sz="1500" dirty="0"/>
          </a:p>
          <a:p>
            <a:pPr indent="0" marL="0">
              <a:buNone/>
            </a:pPr>
            <a:r>
              <a:rPr lang="en-US" sz="800" dirty="0">
                <a:solidFill>
                  <a:srgbClr val="D6DCE5"/>
                </a:solidFill>
              </a:rPr>
              <a:t> </a:t>
            </a:r>
            <a:endParaRPr lang="en-US" sz="1500" dirty="0"/>
          </a:p>
          <a:p>
            <a:pPr indent="0" marL="0">
              <a:buNone/>
            </a:pPr>
            <a:r>
              <a:rPr lang="en-US" sz="1500" b="1" dirty="0">
                <a:solidFill>
                  <a:srgbClr val="FFFFFF"/>
                </a:solidFill>
              </a:rPr>
              <a:t>Zee Mehmood</a:t>
            </a:r>
            <a:endParaRPr lang="en-US" sz="1500" dirty="0"/>
          </a:p>
          <a:p>
            <a:pPr indent="0" marL="0">
              <a:buNone/>
            </a:pPr>
            <a:r>
              <a:rPr lang="en-US" sz="1500" dirty="0">
                <a:solidFill>
                  <a:srgbClr val="D6DCE5"/>
                </a:solidFill>
              </a:rPr>
              <a:t>MSc Artificial Intelligence, University of Essex Online</a:t>
            </a:r>
            <a:endParaRPr lang="en-US" sz="1500" dirty="0"/>
          </a:p>
          <a:p>
            <a:pPr indent="0" marL="0">
              <a:buNone/>
            </a:pPr>
            <a:r>
              <a:rPr lang="en-US" sz="1500" dirty="0">
                <a:solidFill>
                  <a:srgbClr val="D6DCE5"/>
                </a:solidFill>
              </a:rPr>
              <a:t>Track A: Computer Vision</a:t>
            </a:r>
            <a:endParaRPr lang="en-US" sz="1500" dirty="0"/>
          </a:p>
        </p:txBody>
      </p:sp>
      <p:sp>
        <p:nvSpPr>
          <p:cNvPr id="4" name="Shape 2"/>
          <p:cNvSpPr/>
          <p:nvPr/>
        </p:nvSpPr>
        <p:spPr>
          <a:xfrm>
            <a:off x="4983480" y="914400"/>
            <a:ext cx="3886200" cy="2276856"/>
          </a:xfrm>
          <a:prstGeom prst="roundRect">
            <a:avLst>
              <a:gd name="adj" fmla="val 3213"/>
            </a:avLst>
          </a:prstGeom>
          <a:solidFill>
            <a:srgbClr val="FFFFFF"/>
          </a:solidFill>
          <a:ln w="12700">
            <a:solidFill>
              <a:srgbClr val="FFFFFF"/>
            </a:solidFill>
            <a:prstDash val="solid"/>
          </a:ln>
        </p:spPr>
      </p:sp>
      <p:pic>
        <p:nvPicPr>
          <p:cNvPr id="5" name="Image 0" descr="Three random Bliss symbols from each of the four word classes">    </p:cNvPr>
          <p:cNvPicPr>
            <a:picLocks noChangeAspect="1"/>
          </p:cNvPicPr>
          <p:nvPr/>
        </p:nvPicPr>
        <p:blipFill>
          <a:blip r:embed="rId1"/>
          <a:stretch>
            <a:fillRect/>
          </a:stretch>
        </p:blipFill>
        <p:spPr>
          <a:xfrm>
            <a:off x="5029200" y="960120"/>
            <a:ext cx="3794760" cy="2134553"/>
          </a:xfrm>
          <a:prstGeom prst="rect">
            <a:avLst/>
          </a:prstGeom>
        </p:spPr>
      </p:pic>
      <p:sp>
        <p:nvSpPr>
          <p:cNvPr id="6" name="Text 3"/>
          <p:cNvSpPr txBox="1"/>
          <p:nvPr/>
        </p:nvSpPr>
        <p:spPr>
          <a:xfrm>
            <a:off x="4983480" y="3291840"/>
            <a:ext cx="3886200" cy="274320"/>
          </a:xfrm>
          <a:prstGeom prst="rect">
            <a:avLst/>
          </a:prstGeom>
          <a:noFill/>
          <a:ln/>
        </p:spPr>
        <p:txBody>
          <a:bodyPr wrap="square" lIns="0" tIns="0" rIns="0" bIns="0" rtlCol="0" anchor="ctr"/>
          <a:lstStyle/>
          <a:p>
            <a:pPr indent="0" marL="0">
              <a:buNone/>
            </a:pPr>
            <a:r>
              <a:rPr lang="en-US" sz="1100" dirty="0">
                <a:solidFill>
                  <a:srgbClr val="AAB4C3"/>
                </a:solidFill>
              </a:rPr>
              <a:t>Three random symbols per class, as the models see them</a:t>
            </a:r>
            <a:endParaRPr lang="en-US" sz="1100" dirty="0"/>
          </a:p>
        </p:txBody>
      </p:sp>
      <p:sp>
        <p:nvSpPr>
          <p:cNvPr id="7" name="BCI attribution"/>
          <p:cNvSpPr txBox="1"/>
          <p:nvPr/>
        </p:nvSpPr>
        <p:spPr>
          <a:xfrm>
            <a:off x="274320" y="4873752"/>
            <a:ext cx="7863840" cy="228600"/>
          </a:xfrm>
          <a:prstGeom prst="rect">
            <a:avLst/>
          </a:prstGeom>
          <a:noFill/>
          <a:ln/>
        </p:spPr>
        <p:txBody>
          <a:bodyPr wrap="square" lIns="0" tIns="0" rIns="0" bIns="0" rtlCol="0" anchor="ctr"/>
          <a:lstStyle/>
          <a:p>
            <a:pPr indent="0" marL="0">
              <a:buNone/>
            </a:pPr>
            <a:r>
              <a:rPr lang="en-US" sz="1000" dirty="0">
                <a:solidFill>
                  <a:srgbClr val="AAB4C3"/>
                </a:solidFill>
              </a:rPr>
              <a:t>Parts herein © Blissymbolics Communication International (BCI), distributed under the Creative Commons BY-SA 4.0 licence.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03_word_class_marks.png" descr="The word class is usually written into the drawing">    </p:cNvPr>
          <p:cNvPicPr>
            <a:picLocks noChangeAspect="1"/>
          </p:cNvPicPr>
          <p:nvPr/>
        </p:nvPicPr>
        <p:blipFill>
          <a:blip r:embed="rId1"/>
          <a:stretch>
            <a:fillRect/>
          </a:stretch>
        </p:blipFill>
        <p:spPr>
          <a:xfrm>
            <a:off x="228600" y="0"/>
            <a:ext cx="8686800" cy="4886325"/>
          </a:xfrm>
          <a:prstGeom prst="rect">
            <a:avLst/>
          </a:prstGeom>
        </p:spPr>
      </p:pic>
      <p:sp>
        <p:nvSpPr>
          <p:cNvPr id="3" name="BCI attribution"/>
          <p:cNvSpPr txBox="1"/>
          <p:nvPr/>
        </p:nvSpPr>
        <p:spPr>
          <a:xfrm>
            <a:off x="274320" y="4873752"/>
            <a:ext cx="7863840" cy="228600"/>
          </a:xfrm>
          <a:prstGeom prst="rect">
            <a:avLst/>
          </a:prstGeom>
          <a:noFill/>
          <a:ln/>
        </p:spPr>
        <p:txBody>
          <a:bodyPr wrap="square" lIns="0" tIns="0" rIns="0" bIns="0" rtlCol="0" anchor="ctr"/>
          <a:lstStyle/>
          <a:p>
            <a:pPr indent="0" marL="0">
              <a:buNone/>
            </a:pPr>
            <a:r>
              <a:rPr lang="en-US" sz="1000" dirty="0">
                <a:solidFill>
                  <a:schemeClr val="accent5"/>
                </a:solidFill>
              </a:rPr>
              <a:t>Parts herein © Blissymbolics Communication International (BCI), distributed under the Creative Commons BY-SA 4.0 licence.</a:t>
            </a:r>
            <a:endParaRPr lang="en-US" sz="10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01_class_balance.png" descr="Dataset: the official BCI vocabulary">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05_rendering.png" descr="Preprocessing: one shared scale">    </p:cNvPr>
          <p:cNvPicPr>
            <a:picLocks noChangeAspect="1"/>
          </p:cNvPicPr>
          <p:nvPr/>
        </p:nvPicPr>
        <p:blipFill>
          <a:blip r:embed="rId1"/>
          <a:stretch>
            <a:fillRect/>
          </a:stretch>
        </p:blipFill>
        <p:spPr>
          <a:xfrm>
            <a:off x="228600" y="0"/>
            <a:ext cx="8686800" cy="4886325"/>
          </a:xfrm>
          <a:prstGeom prst="rect">
            <a:avLst/>
          </a:prstGeom>
        </p:spPr>
      </p:pic>
      <p:sp>
        <p:nvSpPr>
          <p:cNvPr id="3" name="BCI attribution"/>
          <p:cNvSpPr txBox="1"/>
          <p:nvPr/>
        </p:nvSpPr>
        <p:spPr>
          <a:xfrm>
            <a:off x="274320" y="4873752"/>
            <a:ext cx="7863840" cy="228600"/>
          </a:xfrm>
          <a:prstGeom prst="rect">
            <a:avLst/>
          </a:prstGeom>
          <a:noFill/>
          <a:ln/>
        </p:spPr>
        <p:txBody>
          <a:bodyPr wrap="square" lIns="0" tIns="0" rIns="0" bIns="0" rtlCol="0" anchor="ctr"/>
          <a:lstStyle/>
          <a:p>
            <a:pPr indent="0" marL="0">
              <a:buNone/>
            </a:pPr>
            <a:r>
              <a:rPr lang="en-US" sz="1000" dirty="0">
                <a:solidFill>
                  <a:schemeClr val="accent5"/>
                </a:solidFill>
              </a:rPr>
              <a:t>Parts herein © Blissymbolics Communication International (BCI), distributed under the Creative Commons BY-SA 4.0 licence.</a:t>
            </a:r>
            <a:endParaRPr lang="en-US" sz="10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06_split_leak.png" descr="Validation: a split that can't leak">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b="1" dirty="0">
                <a:solidFill>
                  <a:schemeClr val="tx1"/>
                </a:solidFill>
                <a:latin typeface="Arial" pitchFamily="34" charset="0"/>
                <a:ea typeface="Arial" pitchFamily="34" charset="-122"/>
                <a:cs typeface="Arial" pitchFamily="34" charset="-120"/>
              </a:rPr>
              <a:t>Three models, same images, same folds</a:t>
            </a:r>
            <a:endParaRPr lang="en-US" sz="2400" dirty="0"/>
          </a:p>
        </p:txBody>
      </p:sp>
      <p:sp>
        <p:nvSpPr>
          <p:cNvPr id="3" name="Shape 1"/>
          <p:cNvSpPr/>
          <p:nvPr/>
        </p:nvSpPr>
        <p:spPr>
          <a:xfrm>
            <a:off x="457200" y="1097280"/>
            <a:ext cx="2606040" cy="3520440"/>
          </a:xfrm>
          <a:prstGeom prst="roundRect">
            <a:avLst>
              <a:gd name="adj" fmla="val 2807"/>
            </a:avLst>
          </a:prstGeom>
          <a:solidFill>
            <a:schemeClr val="bg2"/>
          </a:solidFill>
          <a:ln w="12700">
            <a:solidFill>
              <a:schemeClr val="bg2"/>
            </a:solidFill>
            <a:prstDash val="solid"/>
          </a:ln>
        </p:spPr>
      </p:sp>
      <p:sp>
        <p:nvSpPr>
          <p:cNvPr id="4" name="Text 2"/>
          <p:cNvSpPr txBox="1"/>
          <p:nvPr/>
        </p:nvSpPr>
        <p:spPr>
          <a:xfrm>
            <a:off x="640080" y="1234440"/>
            <a:ext cx="2240280" cy="274320"/>
          </a:xfrm>
          <a:prstGeom prst="rect">
            <a:avLst/>
          </a:prstGeom>
          <a:noFill/>
          <a:ln/>
        </p:spPr>
        <p:txBody>
          <a:bodyPr wrap="square" lIns="0" tIns="0" rIns="0" bIns="0" rtlCol="0" anchor="ctr"/>
          <a:lstStyle/>
          <a:p>
            <a:pPr indent="0" marL="0">
              <a:buNone/>
            </a:pPr>
            <a:r>
              <a:rPr lang="en-US" sz="1200" dirty="0">
                <a:solidFill>
                  <a:schemeClr val="accent5"/>
                </a:solidFill>
              </a:rPr>
              <a:t>Classical</a:t>
            </a:r>
            <a:endParaRPr lang="en-US" sz="1200" dirty="0"/>
          </a:p>
        </p:txBody>
      </p:sp>
      <p:sp>
        <p:nvSpPr>
          <p:cNvPr id="5" name="Text 3"/>
          <p:cNvSpPr txBox="1"/>
          <p:nvPr/>
        </p:nvSpPr>
        <p:spPr>
          <a:xfrm>
            <a:off x="640080" y="1508760"/>
            <a:ext cx="2240280" cy="411480"/>
          </a:xfrm>
          <a:prstGeom prst="rect">
            <a:avLst/>
          </a:prstGeom>
          <a:noFill/>
          <a:ln/>
        </p:spPr>
        <p:txBody>
          <a:bodyPr wrap="square" lIns="0" tIns="0" rIns="0" bIns="0" rtlCol="0" anchor="ctr"/>
          <a:lstStyle/>
          <a:p>
            <a:pPr indent="0" marL="0">
              <a:buNone/>
            </a:pPr>
            <a:r>
              <a:rPr lang="en-US" sz="2200" b="1" dirty="0">
                <a:solidFill>
                  <a:schemeClr val="accent3"/>
                </a:solidFill>
                <a:latin typeface="Arial" pitchFamily="34" charset="0"/>
                <a:ea typeface="Arial" pitchFamily="34" charset="-122"/>
                <a:cs typeface="Arial" pitchFamily="34" charset="-120"/>
              </a:rPr>
              <a:t>HOG + SVM</a:t>
            </a:r>
            <a:endParaRPr lang="en-US" sz="2200" dirty="0"/>
          </a:p>
        </p:txBody>
      </p:sp>
      <p:sp>
        <p:nvSpPr>
          <p:cNvPr id="6" name="Shape 4"/>
          <p:cNvSpPr/>
          <p:nvPr/>
        </p:nvSpPr>
        <p:spPr>
          <a:xfrm>
            <a:off x="640080" y="2057400"/>
            <a:ext cx="2240280" cy="548640"/>
          </a:xfrm>
          <a:prstGeom prst="roundRect">
            <a:avLst>
              <a:gd name="adj" fmla="val 10000"/>
            </a:avLst>
          </a:prstGeom>
          <a:solidFill>
            <a:schemeClr val="bg1"/>
          </a:solidFill>
          <a:ln w="12700">
            <a:solidFill>
              <a:srgbClr val="D6DCE5"/>
            </a:solidFill>
            <a:prstDash val="solid"/>
          </a:ln>
        </p:spPr>
      </p:sp>
      <p:sp>
        <p:nvSpPr>
          <p:cNvPr id="7" name="Text 5"/>
          <p:cNvSpPr txBox="1"/>
          <p:nvPr/>
        </p:nvSpPr>
        <p:spPr>
          <a:xfrm>
            <a:off x="731520" y="2057400"/>
            <a:ext cx="2057400" cy="548640"/>
          </a:xfrm>
          <a:prstGeom prst="rect">
            <a:avLst/>
          </a:prstGeom>
          <a:noFill/>
          <a:ln/>
        </p:spPr>
        <p:txBody>
          <a:bodyPr wrap="square" lIns="0" tIns="0" rIns="0" bIns="0" rtlCol="0" anchor="ctr"/>
          <a:lstStyle/>
          <a:p>
            <a:pPr indent="0" marL="0">
              <a:buNone/>
            </a:pPr>
            <a:r>
              <a:rPr lang="en-US" sz="1300" dirty="0">
                <a:solidFill>
                  <a:schemeClr val="tx1"/>
                </a:solidFill>
              </a:rPr>
              <a:t>Edge directions in 8 × 8 cells (HOG)</a:t>
            </a:r>
            <a:endParaRPr lang="en-US" sz="1300" dirty="0"/>
          </a:p>
        </p:txBody>
      </p:sp>
      <p:sp>
        <p:nvSpPr>
          <p:cNvPr id="8" name="Shape 6"/>
          <p:cNvSpPr/>
          <p:nvPr/>
        </p:nvSpPr>
        <p:spPr>
          <a:xfrm>
            <a:off x="1760220" y="2606040"/>
            <a:ext cx="0" cy="164592"/>
          </a:xfrm>
          <a:prstGeom prst="line">
            <a:avLst/>
          </a:prstGeom>
          <a:noFill/>
          <a:ln w="19050">
            <a:solidFill>
              <a:srgbClr val="9AA5B4"/>
            </a:solidFill>
            <a:prstDash val="solid"/>
            <a:tailEnd type="triangle"/>
          </a:ln>
        </p:spPr>
      </p:sp>
      <p:sp>
        <p:nvSpPr>
          <p:cNvPr id="9" name="Shape 7"/>
          <p:cNvSpPr/>
          <p:nvPr/>
        </p:nvSpPr>
        <p:spPr>
          <a:xfrm>
            <a:off x="640080" y="2770632"/>
            <a:ext cx="2240280" cy="548640"/>
          </a:xfrm>
          <a:prstGeom prst="roundRect">
            <a:avLst>
              <a:gd name="adj" fmla="val 10000"/>
            </a:avLst>
          </a:prstGeom>
          <a:solidFill>
            <a:schemeClr val="bg1"/>
          </a:solidFill>
          <a:ln w="12700">
            <a:solidFill>
              <a:srgbClr val="D6DCE5"/>
            </a:solidFill>
            <a:prstDash val="solid"/>
          </a:ln>
        </p:spPr>
      </p:sp>
      <p:sp>
        <p:nvSpPr>
          <p:cNvPr id="10" name="Text 8"/>
          <p:cNvSpPr txBox="1"/>
          <p:nvPr/>
        </p:nvSpPr>
        <p:spPr>
          <a:xfrm>
            <a:off x="731520" y="2770632"/>
            <a:ext cx="2057400" cy="548640"/>
          </a:xfrm>
          <a:prstGeom prst="rect">
            <a:avLst/>
          </a:prstGeom>
          <a:noFill/>
          <a:ln/>
        </p:spPr>
        <p:txBody>
          <a:bodyPr wrap="square" lIns="0" tIns="0" rIns="0" bIns="0" rtlCol="0" anchor="ctr"/>
          <a:lstStyle/>
          <a:p>
            <a:pPr indent="0" marL="0">
              <a:buNone/>
            </a:pPr>
            <a:r>
              <a:rPr lang="en-US" sz="1300" dirty="0">
                <a:solidFill>
                  <a:schemeClr val="tx1"/>
                </a:solidFill>
              </a:rPr>
              <a:t>SVM separates the classes</a:t>
            </a:r>
            <a:endParaRPr lang="en-US" sz="1300" dirty="0"/>
          </a:p>
        </p:txBody>
      </p:sp>
      <p:sp>
        <p:nvSpPr>
          <p:cNvPr id="11" name="Shape 9"/>
          <p:cNvSpPr/>
          <p:nvPr/>
        </p:nvSpPr>
        <p:spPr>
          <a:xfrm>
            <a:off x="1760220" y="3319272"/>
            <a:ext cx="0" cy="164592"/>
          </a:xfrm>
          <a:prstGeom prst="line">
            <a:avLst/>
          </a:prstGeom>
          <a:noFill/>
          <a:ln w="19050">
            <a:solidFill>
              <a:srgbClr val="9AA5B4"/>
            </a:solidFill>
            <a:prstDash val="solid"/>
            <a:tailEnd type="triangle"/>
          </a:ln>
        </p:spPr>
      </p:sp>
      <p:sp>
        <p:nvSpPr>
          <p:cNvPr id="12" name="Shape 10"/>
          <p:cNvSpPr/>
          <p:nvPr/>
        </p:nvSpPr>
        <p:spPr>
          <a:xfrm>
            <a:off x="640080" y="3483864"/>
            <a:ext cx="2240280" cy="548640"/>
          </a:xfrm>
          <a:prstGeom prst="roundRect">
            <a:avLst>
              <a:gd name="adj" fmla="val 10000"/>
            </a:avLst>
          </a:prstGeom>
          <a:solidFill>
            <a:schemeClr val="bg1"/>
          </a:solidFill>
          <a:ln w="12700">
            <a:solidFill>
              <a:srgbClr val="D6DCE5"/>
            </a:solidFill>
            <a:prstDash val="solid"/>
          </a:ln>
        </p:spPr>
      </p:sp>
      <p:sp>
        <p:nvSpPr>
          <p:cNvPr id="13" name="Text 11"/>
          <p:cNvSpPr txBox="1"/>
          <p:nvPr/>
        </p:nvSpPr>
        <p:spPr>
          <a:xfrm>
            <a:off x="731520" y="3483864"/>
            <a:ext cx="2057400" cy="548640"/>
          </a:xfrm>
          <a:prstGeom prst="rect">
            <a:avLst/>
          </a:prstGeom>
          <a:noFill/>
          <a:ln/>
        </p:spPr>
        <p:txBody>
          <a:bodyPr wrap="square" lIns="0" tIns="0" rIns="0" bIns="0" rtlCol="0" anchor="ctr"/>
          <a:lstStyle/>
          <a:p>
            <a:pPr indent="0" marL="0">
              <a:buNone/>
            </a:pPr>
            <a:r>
              <a:rPr lang="en-US" sz="1300" dirty="0">
                <a:solidFill>
                  <a:schemeClr val="tx1"/>
                </a:solidFill>
              </a:rPr>
              <a:t>Grid search inside each training fold</a:t>
            </a:r>
            <a:endParaRPr lang="en-US" sz="1300" dirty="0"/>
          </a:p>
        </p:txBody>
      </p:sp>
      <p:sp>
        <p:nvSpPr>
          <p:cNvPr id="14" name="Text 12"/>
          <p:cNvSpPr txBox="1"/>
          <p:nvPr/>
        </p:nvSpPr>
        <p:spPr>
          <a:xfrm>
            <a:off x="640080" y="42062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scikit-learn</a:t>
            </a:r>
            <a:endParaRPr lang="en-US" sz="1200" dirty="0"/>
          </a:p>
        </p:txBody>
      </p:sp>
      <p:sp>
        <p:nvSpPr>
          <p:cNvPr id="15" name="Shape 13"/>
          <p:cNvSpPr/>
          <p:nvPr/>
        </p:nvSpPr>
        <p:spPr>
          <a:xfrm>
            <a:off x="3268980" y="1097280"/>
            <a:ext cx="2606040" cy="3520440"/>
          </a:xfrm>
          <a:prstGeom prst="roundRect">
            <a:avLst>
              <a:gd name="adj" fmla="val 2807"/>
            </a:avLst>
          </a:prstGeom>
          <a:solidFill>
            <a:schemeClr val="bg2"/>
          </a:solidFill>
          <a:ln w="12700">
            <a:solidFill>
              <a:schemeClr val="bg2"/>
            </a:solidFill>
            <a:prstDash val="solid"/>
          </a:ln>
        </p:spPr>
      </p:sp>
      <p:sp>
        <p:nvSpPr>
          <p:cNvPr id="16" name="Text 14"/>
          <p:cNvSpPr txBox="1"/>
          <p:nvPr/>
        </p:nvSpPr>
        <p:spPr>
          <a:xfrm>
            <a:off x="3451860" y="1234440"/>
            <a:ext cx="2240280" cy="274320"/>
          </a:xfrm>
          <a:prstGeom prst="rect">
            <a:avLst/>
          </a:prstGeom>
          <a:noFill/>
          <a:ln/>
        </p:spPr>
        <p:txBody>
          <a:bodyPr wrap="square" lIns="0" tIns="0" rIns="0" bIns="0" rtlCol="0" anchor="ctr"/>
          <a:lstStyle/>
          <a:p>
            <a:pPr indent="0" marL="0">
              <a:buNone/>
            </a:pPr>
            <a:r>
              <a:rPr lang="en-US" sz="1200" dirty="0">
                <a:solidFill>
                  <a:schemeClr val="accent5"/>
                </a:solidFill>
              </a:rPr>
              <a:t>Deep, from scratch</a:t>
            </a:r>
            <a:endParaRPr lang="en-US" sz="1200" dirty="0"/>
          </a:p>
        </p:txBody>
      </p:sp>
      <p:sp>
        <p:nvSpPr>
          <p:cNvPr id="17" name="Text 15"/>
          <p:cNvSpPr txBox="1"/>
          <p:nvPr/>
        </p:nvSpPr>
        <p:spPr>
          <a:xfrm>
            <a:off x="3451860" y="1508760"/>
            <a:ext cx="2240280" cy="411480"/>
          </a:xfrm>
          <a:prstGeom prst="rect">
            <a:avLst/>
          </a:prstGeom>
          <a:noFill/>
          <a:ln/>
        </p:spPr>
        <p:txBody>
          <a:bodyPr wrap="square" lIns="0" tIns="0" rIns="0" bIns="0" rtlCol="0" anchor="ctr"/>
          <a:lstStyle/>
          <a:p>
            <a:pPr indent="0" marL="0">
              <a:buNone/>
            </a:pPr>
            <a:r>
              <a:rPr lang="en-US" sz="2200" b="1" dirty="0">
                <a:solidFill>
                  <a:schemeClr val="accent2"/>
                </a:solidFill>
                <a:latin typeface="Arial" pitchFamily="34" charset="0"/>
                <a:ea typeface="Arial" pitchFamily="34" charset="-122"/>
                <a:cs typeface="Arial" pitchFamily="34" charset="-120"/>
              </a:rPr>
              <a:t>Small CNN</a:t>
            </a:r>
            <a:endParaRPr lang="en-US" sz="2200" dirty="0"/>
          </a:p>
        </p:txBody>
      </p:sp>
      <p:sp>
        <p:nvSpPr>
          <p:cNvPr id="18" name="Shape 16"/>
          <p:cNvSpPr/>
          <p:nvPr/>
        </p:nvSpPr>
        <p:spPr>
          <a:xfrm>
            <a:off x="3451860" y="2057400"/>
            <a:ext cx="2240280" cy="548640"/>
          </a:xfrm>
          <a:prstGeom prst="roundRect">
            <a:avLst>
              <a:gd name="adj" fmla="val 10000"/>
            </a:avLst>
          </a:prstGeom>
          <a:solidFill>
            <a:schemeClr val="bg1"/>
          </a:solidFill>
          <a:ln w="12700">
            <a:solidFill>
              <a:srgbClr val="D6DCE5"/>
            </a:solidFill>
            <a:prstDash val="solid"/>
          </a:ln>
        </p:spPr>
      </p:sp>
      <p:sp>
        <p:nvSpPr>
          <p:cNvPr id="19" name="Text 17"/>
          <p:cNvSpPr txBox="1"/>
          <p:nvPr/>
        </p:nvSpPr>
        <p:spPr>
          <a:xfrm>
            <a:off x="3543300" y="2057400"/>
            <a:ext cx="2057400" cy="548640"/>
          </a:xfrm>
          <a:prstGeom prst="rect">
            <a:avLst/>
          </a:prstGeom>
          <a:noFill/>
          <a:ln/>
        </p:spPr>
        <p:txBody>
          <a:bodyPr wrap="square" lIns="0" tIns="0" rIns="0" bIns="0" rtlCol="0" anchor="ctr"/>
          <a:lstStyle/>
          <a:p>
            <a:pPr indent="0" marL="0">
              <a:buNone/>
            </a:pPr>
            <a:r>
              <a:rPr lang="en-US" sz="1300" dirty="0">
                <a:solidFill>
                  <a:schemeClr val="tx1"/>
                </a:solidFill>
              </a:rPr>
              <a:t>Learns its own features from pixels</a:t>
            </a:r>
            <a:endParaRPr lang="en-US" sz="1300" dirty="0"/>
          </a:p>
        </p:txBody>
      </p:sp>
      <p:sp>
        <p:nvSpPr>
          <p:cNvPr id="20" name="Shape 18"/>
          <p:cNvSpPr/>
          <p:nvPr/>
        </p:nvSpPr>
        <p:spPr>
          <a:xfrm>
            <a:off x="4572000" y="2606040"/>
            <a:ext cx="0" cy="164592"/>
          </a:xfrm>
          <a:prstGeom prst="line">
            <a:avLst/>
          </a:prstGeom>
          <a:noFill/>
          <a:ln w="19050">
            <a:solidFill>
              <a:srgbClr val="9AA5B4"/>
            </a:solidFill>
            <a:prstDash val="solid"/>
            <a:tailEnd type="triangle"/>
          </a:ln>
        </p:spPr>
      </p:sp>
      <p:sp>
        <p:nvSpPr>
          <p:cNvPr id="21" name="Shape 19"/>
          <p:cNvSpPr/>
          <p:nvPr/>
        </p:nvSpPr>
        <p:spPr>
          <a:xfrm>
            <a:off x="3451860" y="2770632"/>
            <a:ext cx="2240280" cy="548640"/>
          </a:xfrm>
          <a:prstGeom prst="roundRect">
            <a:avLst>
              <a:gd name="adj" fmla="val 10000"/>
            </a:avLst>
          </a:prstGeom>
          <a:solidFill>
            <a:schemeClr val="bg1"/>
          </a:solidFill>
          <a:ln w="12700">
            <a:solidFill>
              <a:srgbClr val="D6DCE5"/>
            </a:solidFill>
            <a:prstDash val="solid"/>
          </a:ln>
        </p:spPr>
      </p:sp>
      <p:sp>
        <p:nvSpPr>
          <p:cNvPr id="22" name="Text 20"/>
          <p:cNvSpPr txBox="1"/>
          <p:nvPr/>
        </p:nvSpPr>
        <p:spPr>
          <a:xfrm>
            <a:off x="3543300" y="2770632"/>
            <a:ext cx="2057400" cy="548640"/>
          </a:xfrm>
          <a:prstGeom prst="rect">
            <a:avLst/>
          </a:prstGeom>
          <a:noFill/>
          <a:ln/>
        </p:spPr>
        <p:txBody>
          <a:bodyPr wrap="square" lIns="0" tIns="0" rIns="0" bIns="0" rtlCol="0" anchor="ctr"/>
          <a:lstStyle/>
          <a:p>
            <a:pPr indent="0" marL="0">
              <a:buNone/>
            </a:pPr>
            <a:r>
              <a:rPr lang="en-US" sz="1300" dirty="0">
                <a:solidFill>
                  <a:schemeClr val="tx1"/>
                </a:solidFill>
              </a:rPr>
              <a:t>Softened class weights</a:t>
            </a:r>
            <a:endParaRPr lang="en-US" sz="1300" dirty="0"/>
          </a:p>
        </p:txBody>
      </p:sp>
      <p:sp>
        <p:nvSpPr>
          <p:cNvPr id="23" name="Shape 21"/>
          <p:cNvSpPr/>
          <p:nvPr/>
        </p:nvSpPr>
        <p:spPr>
          <a:xfrm>
            <a:off x="4572000" y="3319272"/>
            <a:ext cx="0" cy="164592"/>
          </a:xfrm>
          <a:prstGeom prst="line">
            <a:avLst/>
          </a:prstGeom>
          <a:noFill/>
          <a:ln w="19050">
            <a:solidFill>
              <a:srgbClr val="9AA5B4"/>
            </a:solidFill>
            <a:prstDash val="solid"/>
            <a:tailEnd type="triangle"/>
          </a:ln>
        </p:spPr>
      </p:sp>
      <p:sp>
        <p:nvSpPr>
          <p:cNvPr id="24" name="Shape 22"/>
          <p:cNvSpPr/>
          <p:nvPr/>
        </p:nvSpPr>
        <p:spPr>
          <a:xfrm>
            <a:off x="3451860" y="3483864"/>
            <a:ext cx="2240280" cy="548640"/>
          </a:xfrm>
          <a:prstGeom prst="roundRect">
            <a:avLst>
              <a:gd name="adj" fmla="val 10000"/>
            </a:avLst>
          </a:prstGeom>
          <a:solidFill>
            <a:schemeClr val="bg1"/>
          </a:solidFill>
          <a:ln w="12700">
            <a:solidFill>
              <a:srgbClr val="D6DCE5"/>
            </a:solidFill>
            <a:prstDash val="solid"/>
          </a:ln>
        </p:spPr>
      </p:sp>
      <p:sp>
        <p:nvSpPr>
          <p:cNvPr id="25" name="Text 23"/>
          <p:cNvSpPr txBox="1"/>
          <p:nvPr/>
        </p:nvSpPr>
        <p:spPr>
          <a:xfrm>
            <a:off x="3543300" y="3483864"/>
            <a:ext cx="2057400" cy="548640"/>
          </a:xfrm>
          <a:prstGeom prst="rect">
            <a:avLst/>
          </a:prstGeom>
          <a:noFill/>
          <a:ln/>
        </p:spPr>
        <p:txBody>
          <a:bodyPr wrap="square" lIns="0" tIns="0" rIns="0" bIns="0" rtlCol="0" anchor="ctr"/>
          <a:lstStyle/>
          <a:p>
            <a:pPr indent="0" marL="0">
              <a:buNone/>
            </a:pPr>
            <a:r>
              <a:rPr lang="en-US" sz="1300" dirty="0">
                <a:solidFill>
                  <a:schemeClr val="tx1"/>
                </a:solidFill>
              </a:rPr>
              <a:t>Learning rate from a range test</a:t>
            </a:r>
            <a:endParaRPr lang="en-US" sz="1300" dirty="0"/>
          </a:p>
        </p:txBody>
      </p:sp>
      <p:sp>
        <p:nvSpPr>
          <p:cNvPr id="26" name="Text 24"/>
          <p:cNvSpPr txBox="1"/>
          <p:nvPr/>
        </p:nvSpPr>
        <p:spPr>
          <a:xfrm>
            <a:off x="3451860" y="42062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PyTorch</a:t>
            </a:r>
            <a:endParaRPr lang="en-US" sz="1200" dirty="0"/>
          </a:p>
        </p:txBody>
      </p:sp>
      <p:sp>
        <p:nvSpPr>
          <p:cNvPr id="27" name="Shape 25"/>
          <p:cNvSpPr/>
          <p:nvPr/>
        </p:nvSpPr>
        <p:spPr>
          <a:xfrm>
            <a:off x="6080760" y="1097280"/>
            <a:ext cx="2606040" cy="3520440"/>
          </a:xfrm>
          <a:prstGeom prst="roundRect">
            <a:avLst>
              <a:gd name="adj" fmla="val 2807"/>
            </a:avLst>
          </a:prstGeom>
          <a:solidFill>
            <a:schemeClr val="bg2"/>
          </a:solidFill>
          <a:ln w="12700">
            <a:solidFill>
              <a:schemeClr val="bg2"/>
            </a:solidFill>
            <a:prstDash val="solid"/>
          </a:ln>
        </p:spPr>
      </p:sp>
      <p:sp>
        <p:nvSpPr>
          <p:cNvPr id="28" name="Text 26"/>
          <p:cNvSpPr txBox="1"/>
          <p:nvPr/>
        </p:nvSpPr>
        <p:spPr>
          <a:xfrm>
            <a:off x="6263640" y="1234440"/>
            <a:ext cx="2240280" cy="274320"/>
          </a:xfrm>
          <a:prstGeom prst="rect">
            <a:avLst/>
          </a:prstGeom>
          <a:noFill/>
          <a:ln/>
        </p:spPr>
        <p:txBody>
          <a:bodyPr wrap="square" lIns="0" tIns="0" rIns="0" bIns="0" rtlCol="0" anchor="ctr"/>
          <a:lstStyle/>
          <a:p>
            <a:pPr indent="0" marL="0">
              <a:buNone/>
            </a:pPr>
            <a:r>
              <a:rPr lang="en-US" sz="1200" dirty="0">
                <a:solidFill>
                  <a:schemeClr val="accent5"/>
                </a:solidFill>
              </a:rPr>
              <a:t>Deep, pretrained</a:t>
            </a:r>
            <a:endParaRPr lang="en-US" sz="1200" dirty="0"/>
          </a:p>
        </p:txBody>
      </p:sp>
      <p:sp>
        <p:nvSpPr>
          <p:cNvPr id="29" name="Text 27"/>
          <p:cNvSpPr txBox="1"/>
          <p:nvPr/>
        </p:nvSpPr>
        <p:spPr>
          <a:xfrm>
            <a:off x="6263640" y="1508760"/>
            <a:ext cx="2240280" cy="411480"/>
          </a:xfrm>
          <a:prstGeom prst="rect">
            <a:avLst/>
          </a:prstGeom>
          <a:noFill/>
          <a:ln/>
        </p:spPr>
        <p:txBody>
          <a:bodyPr wrap="square" lIns="0" tIns="0" rIns="0" bIns="0" rtlCol="0" anchor="ctr"/>
          <a:lstStyle/>
          <a:p>
            <a:pPr indent="0" marL="0">
              <a:buNone/>
            </a:pPr>
            <a:r>
              <a:rPr lang="en-US" sz="2200" b="1" dirty="0">
                <a:solidFill>
                  <a:schemeClr val="accent6"/>
                </a:solidFill>
                <a:latin typeface="Arial" pitchFamily="34" charset="0"/>
                <a:ea typeface="Arial" pitchFamily="34" charset="-122"/>
                <a:cs typeface="Arial" pitchFamily="34" charset="-120"/>
              </a:rPr>
              <a:t>ResNet18</a:t>
            </a:r>
            <a:endParaRPr lang="en-US" sz="2200" dirty="0"/>
          </a:p>
        </p:txBody>
      </p:sp>
      <p:sp>
        <p:nvSpPr>
          <p:cNvPr id="30" name="Shape 28"/>
          <p:cNvSpPr/>
          <p:nvPr/>
        </p:nvSpPr>
        <p:spPr>
          <a:xfrm>
            <a:off x="6263640" y="2057400"/>
            <a:ext cx="2240280" cy="548640"/>
          </a:xfrm>
          <a:prstGeom prst="roundRect">
            <a:avLst>
              <a:gd name="adj" fmla="val 10000"/>
            </a:avLst>
          </a:prstGeom>
          <a:solidFill>
            <a:schemeClr val="bg1"/>
          </a:solidFill>
          <a:ln w="12700">
            <a:solidFill>
              <a:srgbClr val="D6DCE5"/>
            </a:solidFill>
            <a:prstDash val="solid"/>
          </a:ln>
        </p:spPr>
      </p:sp>
      <p:sp>
        <p:nvSpPr>
          <p:cNvPr id="31" name="Text 29"/>
          <p:cNvSpPr txBox="1"/>
          <p:nvPr/>
        </p:nvSpPr>
        <p:spPr>
          <a:xfrm>
            <a:off x="6355080" y="2057400"/>
            <a:ext cx="2057400" cy="548640"/>
          </a:xfrm>
          <a:prstGeom prst="rect">
            <a:avLst/>
          </a:prstGeom>
          <a:noFill/>
          <a:ln/>
        </p:spPr>
        <p:txBody>
          <a:bodyPr wrap="square" lIns="0" tIns="0" rIns="0" bIns="0" rtlCol="0" anchor="ctr"/>
          <a:lstStyle/>
          <a:p>
            <a:pPr indent="0" marL="0">
              <a:buNone/>
            </a:pPr>
            <a:r>
              <a:rPr lang="en-US" sz="1300" dirty="0">
                <a:solidFill>
                  <a:schemeClr val="tx1"/>
                </a:solidFill>
              </a:rPr>
              <a:t>Starts from 1.2 million photos (ImageNet)</a:t>
            </a:r>
            <a:endParaRPr lang="en-US" sz="1300" dirty="0"/>
          </a:p>
        </p:txBody>
      </p:sp>
      <p:sp>
        <p:nvSpPr>
          <p:cNvPr id="32" name="Shape 30"/>
          <p:cNvSpPr/>
          <p:nvPr/>
        </p:nvSpPr>
        <p:spPr>
          <a:xfrm>
            <a:off x="7383780" y="2606040"/>
            <a:ext cx="0" cy="164592"/>
          </a:xfrm>
          <a:prstGeom prst="line">
            <a:avLst/>
          </a:prstGeom>
          <a:noFill/>
          <a:ln w="19050">
            <a:solidFill>
              <a:srgbClr val="9AA5B4"/>
            </a:solidFill>
            <a:prstDash val="solid"/>
            <a:tailEnd type="triangle"/>
          </a:ln>
        </p:spPr>
      </p:sp>
      <p:sp>
        <p:nvSpPr>
          <p:cNvPr id="33" name="Shape 31"/>
          <p:cNvSpPr/>
          <p:nvPr/>
        </p:nvSpPr>
        <p:spPr>
          <a:xfrm>
            <a:off x="6263640" y="2770632"/>
            <a:ext cx="2240280" cy="548640"/>
          </a:xfrm>
          <a:prstGeom prst="roundRect">
            <a:avLst>
              <a:gd name="adj" fmla="val 10000"/>
            </a:avLst>
          </a:prstGeom>
          <a:solidFill>
            <a:schemeClr val="bg1"/>
          </a:solidFill>
          <a:ln w="12700">
            <a:solidFill>
              <a:srgbClr val="D6DCE5"/>
            </a:solidFill>
            <a:prstDash val="solid"/>
          </a:ln>
        </p:spPr>
      </p:sp>
      <p:sp>
        <p:nvSpPr>
          <p:cNvPr id="34" name="Text 32"/>
          <p:cNvSpPr txBox="1"/>
          <p:nvPr/>
        </p:nvSpPr>
        <p:spPr>
          <a:xfrm>
            <a:off x="6355080" y="2770632"/>
            <a:ext cx="2057400" cy="548640"/>
          </a:xfrm>
          <a:prstGeom prst="rect">
            <a:avLst/>
          </a:prstGeom>
          <a:noFill/>
          <a:ln/>
        </p:spPr>
        <p:txBody>
          <a:bodyPr wrap="square" lIns="0" tIns="0" rIns="0" bIns="0" rtlCol="0" anchor="ctr"/>
          <a:lstStyle/>
          <a:p>
            <a:pPr indent="0" marL="0">
              <a:buNone/>
            </a:pPr>
            <a:r>
              <a:rPr lang="en-US" sz="1300" dirty="0">
                <a:solidFill>
                  <a:schemeClr val="tx1"/>
                </a:solidFill>
              </a:rPr>
              <a:t>Fine-tuned on Bliss</a:t>
            </a:r>
            <a:endParaRPr lang="en-US" sz="1300" dirty="0"/>
          </a:p>
        </p:txBody>
      </p:sp>
      <p:sp>
        <p:nvSpPr>
          <p:cNvPr id="35" name="Shape 33"/>
          <p:cNvSpPr/>
          <p:nvPr/>
        </p:nvSpPr>
        <p:spPr>
          <a:xfrm>
            <a:off x="7383780" y="3319272"/>
            <a:ext cx="0" cy="164592"/>
          </a:xfrm>
          <a:prstGeom prst="line">
            <a:avLst/>
          </a:prstGeom>
          <a:noFill/>
          <a:ln w="19050">
            <a:solidFill>
              <a:srgbClr val="9AA5B4"/>
            </a:solidFill>
            <a:prstDash val="solid"/>
            <a:tailEnd type="triangle"/>
          </a:ln>
        </p:spPr>
      </p:sp>
      <p:sp>
        <p:nvSpPr>
          <p:cNvPr id="36" name="Shape 34"/>
          <p:cNvSpPr/>
          <p:nvPr/>
        </p:nvSpPr>
        <p:spPr>
          <a:xfrm>
            <a:off x="6263640" y="3483864"/>
            <a:ext cx="2240280" cy="548640"/>
          </a:xfrm>
          <a:prstGeom prst="roundRect">
            <a:avLst>
              <a:gd name="adj" fmla="val 10000"/>
            </a:avLst>
          </a:prstGeom>
          <a:solidFill>
            <a:schemeClr val="bg1"/>
          </a:solidFill>
          <a:ln w="12700">
            <a:solidFill>
              <a:srgbClr val="D6DCE5"/>
            </a:solidFill>
            <a:prstDash val="solid"/>
          </a:ln>
        </p:spPr>
      </p:sp>
      <p:sp>
        <p:nvSpPr>
          <p:cNvPr id="37" name="Text 35"/>
          <p:cNvSpPr txBox="1"/>
          <p:nvPr/>
        </p:nvSpPr>
        <p:spPr>
          <a:xfrm>
            <a:off x="6355080" y="3483864"/>
            <a:ext cx="2057400" cy="548640"/>
          </a:xfrm>
          <a:prstGeom prst="rect">
            <a:avLst/>
          </a:prstGeom>
          <a:noFill/>
          <a:ln/>
        </p:spPr>
        <p:txBody>
          <a:bodyPr wrap="square" lIns="0" tIns="0" rIns="0" bIns="0" rtlCol="0" anchor="ctr"/>
          <a:lstStyle/>
          <a:p>
            <a:pPr indent="0" marL="0">
              <a:buNone/>
            </a:pPr>
            <a:r>
              <a:rPr lang="en-US" sz="1300" dirty="0">
                <a:solidFill>
                  <a:schemeClr val="tx1"/>
                </a:solidFill>
              </a:rPr>
              <a:t>Early stopping on held-back loss</a:t>
            </a:r>
            <a:endParaRPr lang="en-US" sz="1300" dirty="0"/>
          </a:p>
        </p:txBody>
      </p:sp>
      <p:sp>
        <p:nvSpPr>
          <p:cNvPr id="38" name="Text 36"/>
          <p:cNvSpPr txBox="1"/>
          <p:nvPr/>
        </p:nvSpPr>
        <p:spPr>
          <a:xfrm>
            <a:off x="6263640" y="42062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PyTorch</a:t>
            </a:r>
            <a:endParaRPr lang="en-US" sz="12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18_learning_rate.png" descr="Choosing the learning rate, not guessing it">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07_improvement_journey.png" descr="Two small changes closed most of the gap">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10_left_align_mechanism.png" descr="Left-aligning puts the first character in the same cells">    </p:cNvPr>
          <p:cNvPicPr>
            <a:picLocks noChangeAspect="1"/>
          </p:cNvPicPr>
          <p:nvPr/>
        </p:nvPicPr>
        <p:blipFill>
          <a:blip r:embed="rId1"/>
          <a:stretch>
            <a:fillRect/>
          </a:stretch>
        </p:blipFill>
        <p:spPr>
          <a:xfrm>
            <a:off x="228600" y="0"/>
            <a:ext cx="8686800" cy="4886325"/>
          </a:xfrm>
          <a:prstGeom prst="rect">
            <a:avLst/>
          </a:prstGeom>
        </p:spPr>
      </p:pic>
      <p:sp>
        <p:nvSpPr>
          <p:cNvPr id="3" name="BCI attribution"/>
          <p:cNvSpPr txBox="1"/>
          <p:nvPr/>
        </p:nvSpPr>
        <p:spPr>
          <a:xfrm>
            <a:off x="274320" y="4873752"/>
            <a:ext cx="7863840" cy="228600"/>
          </a:xfrm>
          <a:prstGeom prst="rect">
            <a:avLst/>
          </a:prstGeom>
          <a:noFill/>
          <a:ln/>
        </p:spPr>
        <p:txBody>
          <a:bodyPr wrap="square" lIns="0" tIns="0" rIns="0" bIns="0" rtlCol="0" anchor="ctr"/>
          <a:lstStyle/>
          <a:p>
            <a:pPr indent="0" marL="0">
              <a:buNone/>
            </a:pPr>
            <a:r>
              <a:rPr lang="en-US" sz="1000" dirty="0">
                <a:solidFill>
                  <a:schemeClr val="accent5"/>
                </a:solidFill>
              </a:rPr>
              <a:t>Parts herein © Blissymbolics Communication International (BCI), distributed under the Creative Commons BY-SA 4.0 licence.</a:t>
            </a:r>
            <a:endParaRPr lang="en-US" sz="10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11_blue_recall.png" descr="Left-aligning helped HOG find the people it was missing">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12_lime.png" descr="Explainability: do the models look at the right thing?">    </p:cNvPr>
          <p:cNvPicPr>
            <a:picLocks noChangeAspect="1"/>
          </p:cNvPicPr>
          <p:nvPr/>
        </p:nvPicPr>
        <p:blipFill>
          <a:blip r:embed="rId1"/>
          <a:stretch>
            <a:fillRect/>
          </a:stretch>
        </p:blipFill>
        <p:spPr>
          <a:xfrm>
            <a:off x="228600" y="0"/>
            <a:ext cx="8686800" cy="4886325"/>
          </a:xfrm>
          <a:prstGeom prst="rect">
            <a:avLst/>
          </a:prstGeom>
        </p:spPr>
      </p:pic>
      <p:sp>
        <p:nvSpPr>
          <p:cNvPr id="3" name="BCI attribution"/>
          <p:cNvSpPr txBox="1"/>
          <p:nvPr/>
        </p:nvSpPr>
        <p:spPr>
          <a:xfrm>
            <a:off x="274320" y="4873752"/>
            <a:ext cx="7863840" cy="228600"/>
          </a:xfrm>
          <a:prstGeom prst="rect">
            <a:avLst/>
          </a:prstGeom>
          <a:noFill/>
          <a:ln/>
        </p:spPr>
        <p:txBody>
          <a:bodyPr wrap="square" lIns="0" tIns="0" rIns="0" bIns="0" rtlCol="0" anchor="ctr"/>
          <a:lstStyle/>
          <a:p>
            <a:pPr indent="0" marL="0">
              <a:buNone/>
            </a:pPr>
            <a:r>
              <a:rPr lang="en-US" sz="1000" dirty="0">
                <a:solidFill>
                  <a:schemeClr val="accent5"/>
                </a:solidFill>
              </a:rPr>
              <a:t>Parts herein © Blissymbolics Communication International (BCI), distributed under the Creative Commons BY-SA 4.0 licence.</a:t>
            </a:r>
            <a:endParaRPr lang="en-US" sz="10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09_confusion_matrices.png" descr="Both models mostly miss the same class: people">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14_hard_cases.png" descr="26 symbols beat all ten models">    </p:cNvPr>
          <p:cNvPicPr>
            <a:picLocks noChangeAspect="1"/>
          </p:cNvPicPr>
          <p:nvPr/>
        </p:nvPicPr>
        <p:blipFill>
          <a:blip r:embed="rId1"/>
          <a:stretch>
            <a:fillRect/>
          </a:stretch>
        </p:blipFill>
        <p:spPr>
          <a:xfrm>
            <a:off x="228600" y="0"/>
            <a:ext cx="8686800" cy="4886325"/>
          </a:xfrm>
          <a:prstGeom prst="rect">
            <a:avLst/>
          </a:prstGeom>
        </p:spPr>
      </p:pic>
      <p:sp>
        <p:nvSpPr>
          <p:cNvPr id="3" name="BCI attribution"/>
          <p:cNvSpPr txBox="1"/>
          <p:nvPr/>
        </p:nvSpPr>
        <p:spPr>
          <a:xfrm>
            <a:off x="274320" y="4873752"/>
            <a:ext cx="7863840" cy="228600"/>
          </a:xfrm>
          <a:prstGeom prst="rect">
            <a:avLst/>
          </a:prstGeom>
          <a:noFill/>
          <a:ln/>
        </p:spPr>
        <p:txBody>
          <a:bodyPr wrap="square" lIns="0" tIns="0" rIns="0" bIns="0" rtlCol="0" anchor="ctr"/>
          <a:lstStyle/>
          <a:p>
            <a:pPr indent="0" marL="0">
              <a:buNone/>
            </a:pPr>
            <a:r>
              <a:rPr lang="en-US" sz="1000" dirty="0">
                <a:solidFill>
                  <a:schemeClr val="accent5"/>
                </a:solidFill>
              </a:rPr>
              <a:t>Parts herein © Blissymbolics Communication International (BCI), distributed under the Creative Commons BY-SA 4.0 licence.</a:t>
            </a:r>
            <a:endParaRPr lang="en-US" sz="10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b="1" dirty="0">
                <a:solidFill>
                  <a:schemeClr val="tx1"/>
                </a:solidFill>
                <a:latin typeface="Arial" pitchFamily="34" charset="0"/>
                <a:ea typeface="Arial" pitchFamily="34" charset="-122"/>
                <a:cs typeface="Arial" pitchFamily="34" charset="-120"/>
              </a:rPr>
              <a:t>Bias: left-aligning made the SVM fairer, too</a:t>
            </a:r>
            <a:endParaRPr lang="en-US" sz="2400" dirty="0"/>
          </a:p>
        </p:txBody>
      </p:sp>
      <p:sp>
        <p:nvSpPr>
          <p:cNvPr id="3" name="Text 1"/>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400" dirty="0">
                <a:solidFill>
                  <a:schemeClr val="accent5"/>
                </a:solidFill>
              </a:rPr>
              <a:t>HOG + SVM accuracy by symbol width, cross-validated</a:t>
            </a:r>
            <a:endParaRPr lang="en-US" sz="1400" dirty="0"/>
          </a:p>
        </p:txBody>
      </p:sp>
      <p:sp>
        <p:nvSpPr>
          <p:cNvPr id="4" name="Shape 2"/>
          <p:cNvSpPr/>
          <p:nvPr/>
        </p:nvSpPr>
        <p:spPr>
          <a:xfrm>
            <a:off x="457200" y="1463040"/>
            <a:ext cx="4023360" cy="2514600"/>
          </a:xfrm>
          <a:prstGeom prst="roundRect">
            <a:avLst>
              <a:gd name="adj" fmla="val 2909"/>
            </a:avLst>
          </a:prstGeom>
          <a:solidFill>
            <a:schemeClr val="bg2"/>
          </a:solidFill>
          <a:ln w="12700">
            <a:solidFill>
              <a:schemeClr val="bg2"/>
            </a:solidFill>
            <a:prstDash val="solid"/>
          </a:ln>
        </p:spPr>
      </p:sp>
      <p:sp>
        <p:nvSpPr>
          <p:cNvPr id="5" name="Text 3"/>
          <p:cNvSpPr txBox="1"/>
          <p:nvPr/>
        </p:nvSpPr>
        <p:spPr>
          <a:xfrm>
            <a:off x="731520" y="1645920"/>
            <a:ext cx="3474720" cy="32004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Centred (before)</a:t>
            </a:r>
            <a:endParaRPr lang="en-US" sz="1800" dirty="0"/>
          </a:p>
        </p:txBody>
      </p:sp>
      <p:sp>
        <p:nvSpPr>
          <p:cNvPr id="6" name="Text 4"/>
          <p:cNvSpPr txBox="1"/>
          <p:nvPr/>
        </p:nvSpPr>
        <p:spPr>
          <a:xfrm>
            <a:off x="731520" y="2103120"/>
            <a:ext cx="1737360" cy="731520"/>
          </a:xfrm>
          <a:prstGeom prst="rect">
            <a:avLst/>
          </a:prstGeom>
          <a:noFill/>
          <a:ln/>
        </p:spPr>
        <p:txBody>
          <a:bodyPr wrap="square" lIns="0" tIns="0" rIns="0" bIns="0" rtlCol="0" anchor="ctr"/>
          <a:lstStyle/>
          <a:p>
            <a:pPr indent="0" marL="0">
              <a:buNone/>
            </a:pPr>
            <a:r>
              <a:rPr lang="en-US" sz="4000" b="1" dirty="0">
                <a:solidFill>
                  <a:schemeClr val="tx2"/>
                </a:solidFill>
                <a:latin typeface="Arial" pitchFamily="34" charset="0"/>
                <a:ea typeface="Arial" pitchFamily="34" charset="-122"/>
                <a:cs typeface="Arial" pitchFamily="34" charset="-120"/>
              </a:rPr>
              <a:t>0.969</a:t>
            </a:r>
            <a:endParaRPr lang="en-US" sz="4000" dirty="0"/>
          </a:p>
        </p:txBody>
      </p:sp>
      <p:sp>
        <p:nvSpPr>
          <p:cNvPr id="7" name="Text 5"/>
          <p:cNvSpPr txBox="1"/>
          <p:nvPr/>
        </p:nvSpPr>
        <p:spPr>
          <a:xfrm>
            <a:off x="731520" y="2834640"/>
            <a:ext cx="1737360" cy="274320"/>
          </a:xfrm>
          <a:prstGeom prst="rect">
            <a:avLst/>
          </a:prstGeom>
          <a:noFill/>
          <a:ln/>
        </p:spPr>
        <p:txBody>
          <a:bodyPr wrap="square" lIns="0" tIns="0" rIns="0" bIns="0" rtlCol="0" anchor="ctr"/>
          <a:lstStyle/>
          <a:p>
            <a:pPr indent="0" marL="0">
              <a:buNone/>
            </a:pPr>
            <a:r>
              <a:rPr lang="en-US" sz="1300" dirty="0">
                <a:solidFill>
                  <a:schemeClr val="accent5"/>
                </a:solidFill>
              </a:rPr>
              <a:t>Narrow symbols</a:t>
            </a:r>
            <a:endParaRPr lang="en-US" sz="1300" dirty="0"/>
          </a:p>
        </p:txBody>
      </p:sp>
      <p:sp>
        <p:nvSpPr>
          <p:cNvPr id="8" name="Text 6"/>
          <p:cNvSpPr txBox="1"/>
          <p:nvPr/>
        </p:nvSpPr>
        <p:spPr>
          <a:xfrm>
            <a:off x="2560320" y="2103120"/>
            <a:ext cx="1737360" cy="731520"/>
          </a:xfrm>
          <a:prstGeom prst="rect">
            <a:avLst/>
          </a:prstGeom>
          <a:noFill/>
          <a:ln/>
        </p:spPr>
        <p:txBody>
          <a:bodyPr wrap="square" lIns="0" tIns="0" rIns="0" bIns="0" rtlCol="0" anchor="ctr"/>
          <a:lstStyle/>
          <a:p>
            <a:pPr indent="0" marL="0">
              <a:buNone/>
            </a:pPr>
            <a:r>
              <a:rPr lang="en-US" sz="4000" b="1" dirty="0">
                <a:solidFill>
                  <a:schemeClr val="tx2"/>
                </a:solidFill>
                <a:latin typeface="Arial" pitchFamily="34" charset="0"/>
                <a:ea typeface="Arial" pitchFamily="34" charset="-122"/>
                <a:cs typeface="Arial" pitchFamily="34" charset="-120"/>
              </a:rPr>
              <a:t>0.932</a:t>
            </a:r>
            <a:endParaRPr lang="en-US" sz="4000" dirty="0"/>
          </a:p>
        </p:txBody>
      </p:sp>
      <p:sp>
        <p:nvSpPr>
          <p:cNvPr id="9" name="Text 7"/>
          <p:cNvSpPr txBox="1"/>
          <p:nvPr/>
        </p:nvSpPr>
        <p:spPr>
          <a:xfrm>
            <a:off x="2560320" y="2834640"/>
            <a:ext cx="1737360" cy="274320"/>
          </a:xfrm>
          <a:prstGeom prst="rect">
            <a:avLst/>
          </a:prstGeom>
          <a:noFill/>
          <a:ln/>
        </p:spPr>
        <p:txBody>
          <a:bodyPr wrap="square" lIns="0" tIns="0" rIns="0" bIns="0" rtlCol="0" anchor="ctr"/>
          <a:lstStyle/>
          <a:p>
            <a:pPr indent="0" marL="0">
              <a:buNone/>
            </a:pPr>
            <a:r>
              <a:rPr lang="en-US" sz="1300" dirty="0">
                <a:solidFill>
                  <a:schemeClr val="accent5"/>
                </a:solidFill>
              </a:rPr>
              <a:t>Wide symbols</a:t>
            </a:r>
            <a:endParaRPr lang="en-US" sz="1300" dirty="0"/>
          </a:p>
        </p:txBody>
      </p:sp>
      <p:sp>
        <p:nvSpPr>
          <p:cNvPr id="10" name="Text 8"/>
          <p:cNvSpPr txBox="1"/>
          <p:nvPr/>
        </p:nvSpPr>
        <p:spPr>
          <a:xfrm>
            <a:off x="731520" y="3291840"/>
            <a:ext cx="3474720" cy="457200"/>
          </a:xfrm>
          <a:prstGeom prst="rect">
            <a:avLst/>
          </a:prstGeom>
          <a:noFill/>
          <a:ln/>
        </p:spPr>
        <p:txBody>
          <a:bodyPr wrap="square" lIns="0" tIns="0" rIns="0" bIns="0" rtlCol="0" anchor="ctr"/>
          <a:lstStyle/>
          <a:p>
            <a:pPr indent="0" marL="0">
              <a:buNone/>
            </a:pPr>
            <a:r>
              <a:rPr lang="en-US" sz="2200" dirty="0">
                <a:solidFill>
                  <a:schemeClr val="accent5"/>
                </a:solidFill>
              </a:rPr>
              <a:t>Gap  </a:t>
            </a:r>
            <a:pPr indent="0" marL="0">
              <a:buNone/>
            </a:pPr>
            <a:r>
              <a:rPr lang="en-US" sz="2200" b="1" dirty="0">
                <a:solidFill>
                  <a:schemeClr val="accent2"/>
                </a:solidFill>
              </a:rPr>
              <a:t>0.037</a:t>
            </a:r>
            <a:endParaRPr lang="en-US" sz="2200" dirty="0"/>
          </a:p>
        </p:txBody>
      </p:sp>
      <p:sp>
        <p:nvSpPr>
          <p:cNvPr id="11" name="Shape 9"/>
          <p:cNvSpPr/>
          <p:nvPr/>
        </p:nvSpPr>
        <p:spPr>
          <a:xfrm>
            <a:off x="4663440" y="1463040"/>
            <a:ext cx="4023360" cy="2514600"/>
          </a:xfrm>
          <a:prstGeom prst="roundRect">
            <a:avLst>
              <a:gd name="adj" fmla="val 2909"/>
            </a:avLst>
          </a:prstGeom>
          <a:solidFill>
            <a:schemeClr val="bg2"/>
          </a:solidFill>
          <a:ln w="12700">
            <a:solidFill>
              <a:schemeClr val="bg2"/>
            </a:solidFill>
            <a:prstDash val="solid"/>
          </a:ln>
        </p:spPr>
      </p:sp>
      <p:sp>
        <p:nvSpPr>
          <p:cNvPr id="12" name="Text 10"/>
          <p:cNvSpPr txBox="1"/>
          <p:nvPr/>
        </p:nvSpPr>
        <p:spPr>
          <a:xfrm>
            <a:off x="4937760" y="1645920"/>
            <a:ext cx="3474720" cy="32004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Left-aligned (after)</a:t>
            </a:r>
            <a:endParaRPr lang="en-US" sz="1800" dirty="0"/>
          </a:p>
        </p:txBody>
      </p:sp>
      <p:sp>
        <p:nvSpPr>
          <p:cNvPr id="13" name="Text 11"/>
          <p:cNvSpPr txBox="1"/>
          <p:nvPr/>
        </p:nvSpPr>
        <p:spPr>
          <a:xfrm>
            <a:off x="4937760" y="2103120"/>
            <a:ext cx="1737360" cy="731520"/>
          </a:xfrm>
          <a:prstGeom prst="rect">
            <a:avLst/>
          </a:prstGeom>
          <a:noFill/>
          <a:ln/>
        </p:spPr>
        <p:txBody>
          <a:bodyPr wrap="square" lIns="0" tIns="0" rIns="0" bIns="0" rtlCol="0" anchor="ctr"/>
          <a:lstStyle/>
          <a:p>
            <a:pPr indent="0" marL="0">
              <a:buNone/>
            </a:pPr>
            <a:r>
              <a:rPr lang="en-US" sz="4000" b="1" dirty="0">
                <a:solidFill>
                  <a:schemeClr val="tx2"/>
                </a:solidFill>
                <a:latin typeface="Arial" pitchFamily="34" charset="0"/>
                <a:ea typeface="Arial" pitchFamily="34" charset="-122"/>
                <a:cs typeface="Arial" pitchFamily="34" charset="-120"/>
              </a:rPr>
              <a:t>0.978</a:t>
            </a:r>
            <a:endParaRPr lang="en-US" sz="4000" dirty="0"/>
          </a:p>
        </p:txBody>
      </p:sp>
      <p:sp>
        <p:nvSpPr>
          <p:cNvPr id="14" name="Text 12"/>
          <p:cNvSpPr txBox="1"/>
          <p:nvPr/>
        </p:nvSpPr>
        <p:spPr>
          <a:xfrm>
            <a:off x="4937760" y="2834640"/>
            <a:ext cx="1737360" cy="274320"/>
          </a:xfrm>
          <a:prstGeom prst="rect">
            <a:avLst/>
          </a:prstGeom>
          <a:noFill/>
          <a:ln/>
        </p:spPr>
        <p:txBody>
          <a:bodyPr wrap="square" lIns="0" tIns="0" rIns="0" bIns="0" rtlCol="0" anchor="ctr"/>
          <a:lstStyle/>
          <a:p>
            <a:pPr indent="0" marL="0">
              <a:buNone/>
            </a:pPr>
            <a:r>
              <a:rPr lang="en-US" sz="1300" dirty="0">
                <a:solidFill>
                  <a:schemeClr val="accent5"/>
                </a:solidFill>
              </a:rPr>
              <a:t>Narrow symbols</a:t>
            </a:r>
            <a:endParaRPr lang="en-US" sz="1300" dirty="0"/>
          </a:p>
        </p:txBody>
      </p:sp>
      <p:sp>
        <p:nvSpPr>
          <p:cNvPr id="15" name="Text 13"/>
          <p:cNvSpPr txBox="1"/>
          <p:nvPr/>
        </p:nvSpPr>
        <p:spPr>
          <a:xfrm>
            <a:off x="6766560" y="2103120"/>
            <a:ext cx="1737360" cy="731520"/>
          </a:xfrm>
          <a:prstGeom prst="rect">
            <a:avLst/>
          </a:prstGeom>
          <a:noFill/>
          <a:ln/>
        </p:spPr>
        <p:txBody>
          <a:bodyPr wrap="square" lIns="0" tIns="0" rIns="0" bIns="0" rtlCol="0" anchor="ctr"/>
          <a:lstStyle/>
          <a:p>
            <a:pPr indent="0" marL="0">
              <a:buNone/>
            </a:pPr>
            <a:r>
              <a:rPr lang="en-US" sz="4000" b="1" dirty="0">
                <a:solidFill>
                  <a:schemeClr val="tx2"/>
                </a:solidFill>
                <a:latin typeface="Arial" pitchFamily="34" charset="0"/>
                <a:ea typeface="Arial" pitchFamily="34" charset="-122"/>
                <a:cs typeface="Arial" pitchFamily="34" charset="-120"/>
              </a:rPr>
              <a:t>0.971</a:t>
            </a:r>
            <a:endParaRPr lang="en-US" sz="4000" dirty="0"/>
          </a:p>
        </p:txBody>
      </p:sp>
      <p:sp>
        <p:nvSpPr>
          <p:cNvPr id="16" name="Text 14"/>
          <p:cNvSpPr txBox="1"/>
          <p:nvPr/>
        </p:nvSpPr>
        <p:spPr>
          <a:xfrm>
            <a:off x="6766560" y="2834640"/>
            <a:ext cx="1737360" cy="274320"/>
          </a:xfrm>
          <a:prstGeom prst="rect">
            <a:avLst/>
          </a:prstGeom>
          <a:noFill/>
          <a:ln/>
        </p:spPr>
        <p:txBody>
          <a:bodyPr wrap="square" lIns="0" tIns="0" rIns="0" bIns="0" rtlCol="0" anchor="ctr"/>
          <a:lstStyle/>
          <a:p>
            <a:pPr indent="0" marL="0">
              <a:buNone/>
            </a:pPr>
            <a:r>
              <a:rPr lang="en-US" sz="1300" dirty="0">
                <a:solidFill>
                  <a:schemeClr val="accent5"/>
                </a:solidFill>
              </a:rPr>
              <a:t>Wide symbols</a:t>
            </a:r>
            <a:endParaRPr lang="en-US" sz="1300" dirty="0"/>
          </a:p>
        </p:txBody>
      </p:sp>
      <p:sp>
        <p:nvSpPr>
          <p:cNvPr id="17" name="Text 15"/>
          <p:cNvSpPr txBox="1"/>
          <p:nvPr/>
        </p:nvSpPr>
        <p:spPr>
          <a:xfrm>
            <a:off x="4937760" y="3291840"/>
            <a:ext cx="3474720" cy="457200"/>
          </a:xfrm>
          <a:prstGeom prst="rect">
            <a:avLst/>
          </a:prstGeom>
          <a:noFill/>
          <a:ln/>
        </p:spPr>
        <p:txBody>
          <a:bodyPr wrap="square" lIns="0" tIns="0" rIns="0" bIns="0" rtlCol="0" anchor="ctr"/>
          <a:lstStyle/>
          <a:p>
            <a:pPr indent="0" marL="0">
              <a:buNone/>
            </a:pPr>
            <a:r>
              <a:rPr lang="en-US" sz="2200" dirty="0">
                <a:solidFill>
                  <a:schemeClr val="accent5"/>
                </a:solidFill>
              </a:rPr>
              <a:t>Gap  </a:t>
            </a:r>
            <a:pPr indent="0" marL="0">
              <a:buNone/>
            </a:pPr>
            <a:r>
              <a:rPr lang="en-US" sz="2200" b="1" dirty="0">
                <a:solidFill>
                  <a:schemeClr val="accent4"/>
                </a:solidFill>
              </a:rPr>
              <a:t>0.007</a:t>
            </a:r>
            <a:endParaRPr lang="en-US" sz="2200" dirty="0"/>
          </a:p>
        </p:txBody>
      </p:sp>
      <p:sp>
        <p:nvSpPr>
          <p:cNvPr id="18" name="Text 16"/>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500" i="1" dirty="0">
                <a:solidFill>
                  <a:schemeClr val="tx1"/>
                </a:solidFill>
              </a:rPr>
              <a:t>ResNet18 was flat across every subgroup.</a:t>
            </a:r>
            <a:endParaRPr lang="en-US" sz="15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15_test_results.png" descr="On unseen symbols, the two headline models finish level">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17_unseen_family.png" descr="An unseen family of Norse gods tripped up one model">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13_cost_vs_accuracy.png" descr="Cost decides: accuracy against prediction speed">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b="1" dirty="0">
                <a:solidFill>
                  <a:schemeClr val="tx1"/>
                </a:solidFill>
                <a:latin typeface="Arial" pitchFamily="34" charset="0"/>
                <a:ea typeface="Arial" pitchFamily="34" charset="-122"/>
                <a:cs typeface="Arial" pitchFamily="34" charset="-120"/>
              </a:rPr>
              <a:t>Deployment: a quality check with a person in the loop</a:t>
            </a:r>
            <a:endParaRPr lang="en-US" sz="2400" dirty="0"/>
          </a:p>
        </p:txBody>
      </p:sp>
      <p:sp>
        <p:nvSpPr>
          <p:cNvPr id="3" name="Shape 1"/>
          <p:cNvSpPr/>
          <p:nvPr/>
        </p:nvSpPr>
        <p:spPr>
          <a:xfrm>
            <a:off x="457200" y="1234440"/>
            <a:ext cx="1828800" cy="868680"/>
          </a:xfrm>
          <a:prstGeom prst="roundRect">
            <a:avLst>
              <a:gd name="adj" fmla="val 8421"/>
            </a:avLst>
          </a:prstGeom>
          <a:solidFill>
            <a:schemeClr val="accent5"/>
          </a:solidFill>
          <a:ln w="12700">
            <a:solidFill>
              <a:schemeClr val="accent5"/>
            </a:solidFill>
            <a:prstDash val="solid"/>
          </a:ln>
        </p:spPr>
      </p:sp>
      <p:sp>
        <p:nvSpPr>
          <p:cNvPr id="4" name="Text 2"/>
          <p:cNvSpPr txBox="1"/>
          <p:nvPr/>
        </p:nvSpPr>
        <p:spPr>
          <a:xfrm>
            <a:off x="548640" y="1234440"/>
            <a:ext cx="1645920" cy="868680"/>
          </a:xfrm>
          <a:prstGeom prst="rect">
            <a:avLst/>
          </a:prstGeom>
          <a:noFill/>
          <a:ln/>
        </p:spPr>
        <p:txBody>
          <a:bodyPr wrap="square" lIns="0" tIns="0" rIns="0" bIns="0" rtlCol="0" anchor="ctr"/>
          <a:lstStyle/>
          <a:p>
            <a:pPr algn="ctr" indent="0" marL="0">
              <a:buNone/>
            </a:pPr>
            <a:r>
              <a:rPr lang="en-US" sz="1400" b="1" dirty="0">
                <a:solidFill>
                  <a:schemeClr val="bg1"/>
                </a:solidFill>
              </a:rPr>
              <a:t>New symbols added</a:t>
            </a:r>
            <a:endParaRPr lang="en-US" sz="1400" dirty="0"/>
          </a:p>
        </p:txBody>
      </p:sp>
      <p:sp>
        <p:nvSpPr>
          <p:cNvPr id="5" name="Shape 3"/>
          <p:cNvSpPr/>
          <p:nvPr/>
        </p:nvSpPr>
        <p:spPr>
          <a:xfrm>
            <a:off x="2322576" y="1668780"/>
            <a:ext cx="228600" cy="0"/>
          </a:xfrm>
          <a:prstGeom prst="line">
            <a:avLst/>
          </a:prstGeom>
          <a:noFill/>
          <a:ln w="25400">
            <a:solidFill>
              <a:srgbClr val="9AA5B4"/>
            </a:solidFill>
            <a:prstDash val="solid"/>
            <a:tailEnd type="triangle"/>
          </a:ln>
        </p:spPr>
      </p:sp>
      <p:sp>
        <p:nvSpPr>
          <p:cNvPr id="6" name="Shape 4"/>
          <p:cNvSpPr/>
          <p:nvPr/>
        </p:nvSpPr>
        <p:spPr>
          <a:xfrm>
            <a:off x="2587752" y="1234440"/>
            <a:ext cx="1828800" cy="868680"/>
          </a:xfrm>
          <a:prstGeom prst="roundRect">
            <a:avLst>
              <a:gd name="adj" fmla="val 8421"/>
            </a:avLst>
          </a:prstGeom>
          <a:solidFill>
            <a:schemeClr val="accent5"/>
          </a:solidFill>
          <a:ln w="12700">
            <a:solidFill>
              <a:schemeClr val="accent5"/>
            </a:solidFill>
            <a:prstDash val="solid"/>
          </a:ln>
        </p:spPr>
      </p:sp>
      <p:sp>
        <p:nvSpPr>
          <p:cNvPr id="7" name="Text 5"/>
          <p:cNvSpPr txBox="1"/>
          <p:nvPr/>
        </p:nvSpPr>
        <p:spPr>
          <a:xfrm>
            <a:off x="2679192" y="1234440"/>
            <a:ext cx="1645920" cy="868680"/>
          </a:xfrm>
          <a:prstGeom prst="rect">
            <a:avLst/>
          </a:prstGeom>
          <a:noFill/>
          <a:ln/>
        </p:spPr>
        <p:txBody>
          <a:bodyPr wrap="square" lIns="0" tIns="0" rIns="0" bIns="0" rtlCol="0" anchor="ctr"/>
          <a:lstStyle/>
          <a:p>
            <a:pPr algn="ctr" indent="0" marL="0">
              <a:buNone/>
            </a:pPr>
            <a:r>
              <a:rPr lang="en-US" sz="1400" b="1" dirty="0">
                <a:solidFill>
                  <a:schemeClr val="bg1"/>
                </a:solidFill>
              </a:rPr>
              <a:t>Render: shared scale, left-aligned</a:t>
            </a:r>
            <a:endParaRPr lang="en-US" sz="1400" dirty="0"/>
          </a:p>
        </p:txBody>
      </p:sp>
      <p:sp>
        <p:nvSpPr>
          <p:cNvPr id="8" name="Shape 6"/>
          <p:cNvSpPr/>
          <p:nvPr/>
        </p:nvSpPr>
        <p:spPr>
          <a:xfrm>
            <a:off x="4453128" y="1668780"/>
            <a:ext cx="228600" cy="0"/>
          </a:xfrm>
          <a:prstGeom prst="line">
            <a:avLst/>
          </a:prstGeom>
          <a:noFill/>
          <a:ln w="25400">
            <a:solidFill>
              <a:srgbClr val="9AA5B4"/>
            </a:solidFill>
            <a:prstDash val="solid"/>
            <a:tailEnd type="triangle"/>
          </a:ln>
        </p:spPr>
      </p:sp>
      <p:sp>
        <p:nvSpPr>
          <p:cNvPr id="9" name="Shape 7"/>
          <p:cNvSpPr/>
          <p:nvPr/>
        </p:nvSpPr>
        <p:spPr>
          <a:xfrm>
            <a:off x="4718304" y="1234440"/>
            <a:ext cx="1828800" cy="868680"/>
          </a:xfrm>
          <a:prstGeom prst="roundRect">
            <a:avLst>
              <a:gd name="adj" fmla="val 8421"/>
            </a:avLst>
          </a:prstGeom>
          <a:solidFill>
            <a:schemeClr val="accent3"/>
          </a:solidFill>
          <a:ln w="12700">
            <a:solidFill>
              <a:schemeClr val="accent3"/>
            </a:solidFill>
            <a:prstDash val="solid"/>
          </a:ln>
        </p:spPr>
      </p:sp>
      <p:sp>
        <p:nvSpPr>
          <p:cNvPr id="10" name="Text 8"/>
          <p:cNvSpPr txBox="1"/>
          <p:nvPr/>
        </p:nvSpPr>
        <p:spPr>
          <a:xfrm>
            <a:off x="4809744" y="1234440"/>
            <a:ext cx="1645920" cy="868680"/>
          </a:xfrm>
          <a:prstGeom prst="rect">
            <a:avLst/>
          </a:prstGeom>
          <a:noFill/>
          <a:ln/>
        </p:spPr>
        <p:txBody>
          <a:bodyPr wrap="square" lIns="0" tIns="0" rIns="0" bIns="0" rtlCol="0" anchor="ctr"/>
          <a:lstStyle/>
          <a:p>
            <a:pPr algn="ctr" indent="0" marL="0">
              <a:buNone/>
            </a:pPr>
            <a:r>
              <a:rPr lang="en-US" sz="1400" b="1" dirty="0">
                <a:solidFill>
                  <a:schemeClr val="bg1"/>
                </a:solidFill>
              </a:rPr>
              <a:t>HOG + SVM predicts the class</a:t>
            </a:r>
            <a:endParaRPr lang="en-US" sz="1400" dirty="0"/>
          </a:p>
        </p:txBody>
      </p:sp>
      <p:sp>
        <p:nvSpPr>
          <p:cNvPr id="11" name="Shape 9"/>
          <p:cNvSpPr/>
          <p:nvPr/>
        </p:nvSpPr>
        <p:spPr>
          <a:xfrm>
            <a:off x="6583680" y="1668780"/>
            <a:ext cx="228600" cy="0"/>
          </a:xfrm>
          <a:prstGeom prst="line">
            <a:avLst/>
          </a:prstGeom>
          <a:noFill/>
          <a:ln w="25400">
            <a:solidFill>
              <a:srgbClr val="9AA5B4"/>
            </a:solidFill>
            <a:prstDash val="solid"/>
            <a:tailEnd type="triangle"/>
          </a:ln>
        </p:spPr>
      </p:sp>
      <p:sp>
        <p:nvSpPr>
          <p:cNvPr id="12" name="Shape 10"/>
          <p:cNvSpPr/>
          <p:nvPr/>
        </p:nvSpPr>
        <p:spPr>
          <a:xfrm>
            <a:off x="6848856" y="1234440"/>
            <a:ext cx="1828800" cy="868680"/>
          </a:xfrm>
          <a:prstGeom prst="roundRect">
            <a:avLst>
              <a:gd name="adj" fmla="val 8421"/>
            </a:avLst>
          </a:prstGeom>
          <a:solidFill>
            <a:schemeClr val="tx2"/>
          </a:solidFill>
          <a:ln w="12700">
            <a:solidFill>
              <a:schemeClr val="tx2"/>
            </a:solidFill>
            <a:prstDash val="solid"/>
          </a:ln>
        </p:spPr>
      </p:sp>
      <p:sp>
        <p:nvSpPr>
          <p:cNvPr id="13" name="Text 11"/>
          <p:cNvSpPr txBox="1"/>
          <p:nvPr/>
        </p:nvSpPr>
        <p:spPr>
          <a:xfrm>
            <a:off x="6940296" y="1234440"/>
            <a:ext cx="1645920" cy="868680"/>
          </a:xfrm>
          <a:prstGeom prst="rect">
            <a:avLst/>
          </a:prstGeom>
          <a:noFill/>
          <a:ln/>
        </p:spPr>
        <p:txBody>
          <a:bodyPr wrap="square" lIns="0" tIns="0" rIns="0" bIns="0" rtlCol="0" anchor="ctr"/>
          <a:lstStyle/>
          <a:p>
            <a:pPr algn="ctr" indent="0" marL="0">
              <a:buNone/>
            </a:pPr>
            <a:r>
              <a:rPr lang="en-US" sz="1400" b="1" dirty="0">
                <a:solidFill>
                  <a:schemeClr val="bg1"/>
                </a:solidFill>
              </a:rPr>
              <a:t>Prediction matches BCI colour?</a:t>
            </a:r>
            <a:endParaRPr lang="en-US" sz="1400" dirty="0"/>
          </a:p>
        </p:txBody>
      </p:sp>
      <p:sp>
        <p:nvSpPr>
          <p:cNvPr id="14" name="Shape 12"/>
          <p:cNvSpPr/>
          <p:nvPr/>
        </p:nvSpPr>
        <p:spPr>
          <a:xfrm>
            <a:off x="7763256" y="2103120"/>
            <a:ext cx="0" cy="320040"/>
          </a:xfrm>
          <a:prstGeom prst="line">
            <a:avLst/>
          </a:prstGeom>
          <a:noFill/>
          <a:ln w="25400">
            <a:solidFill>
              <a:srgbClr val="9AA5B4"/>
            </a:solidFill>
            <a:prstDash val="solid"/>
            <a:tailEnd type="triangle"/>
          </a:ln>
        </p:spPr>
      </p:sp>
      <p:sp>
        <p:nvSpPr>
          <p:cNvPr id="15" name="Shape 13"/>
          <p:cNvSpPr/>
          <p:nvPr/>
        </p:nvSpPr>
        <p:spPr>
          <a:xfrm>
            <a:off x="6848856" y="2468880"/>
            <a:ext cx="1828800" cy="685800"/>
          </a:xfrm>
          <a:prstGeom prst="roundRect">
            <a:avLst>
              <a:gd name="adj" fmla="val 10667"/>
            </a:avLst>
          </a:prstGeom>
          <a:solidFill>
            <a:schemeClr val="accent2"/>
          </a:solidFill>
          <a:ln w="12700">
            <a:solidFill>
              <a:schemeClr val="accent2"/>
            </a:solidFill>
            <a:prstDash val="solid"/>
          </a:ln>
        </p:spPr>
      </p:sp>
      <p:sp>
        <p:nvSpPr>
          <p:cNvPr id="16" name="Text 14"/>
          <p:cNvSpPr txBox="1"/>
          <p:nvPr/>
        </p:nvSpPr>
        <p:spPr>
          <a:xfrm>
            <a:off x="6894576" y="2468880"/>
            <a:ext cx="1737360" cy="685800"/>
          </a:xfrm>
          <a:prstGeom prst="rect">
            <a:avLst/>
          </a:prstGeom>
          <a:noFill/>
          <a:ln/>
        </p:spPr>
        <p:txBody>
          <a:bodyPr wrap="square" lIns="0" tIns="0" rIns="0" bIns="0" rtlCol="0" anchor="ctr"/>
          <a:lstStyle/>
          <a:p>
            <a:pPr algn="ctr" indent="0" marL="0">
              <a:buNone/>
            </a:pPr>
            <a:r>
              <a:rPr lang="en-US" sz="1400" b="1" dirty="0">
                <a:solidFill>
                  <a:schemeClr val="bg1"/>
                </a:solidFill>
              </a:rPr>
              <a:t>Flag for a person to review</a:t>
            </a:r>
            <a:endParaRPr lang="en-US" sz="1400" dirty="0"/>
          </a:p>
        </p:txBody>
      </p:sp>
      <p:sp>
        <p:nvSpPr>
          <p:cNvPr id="17" name="Text 15"/>
          <p:cNvSpPr txBox="1"/>
          <p:nvPr/>
        </p:nvSpPr>
        <p:spPr>
          <a:xfrm>
            <a:off x="7854696" y="2148840"/>
            <a:ext cx="914400" cy="274320"/>
          </a:xfrm>
          <a:prstGeom prst="rect">
            <a:avLst/>
          </a:prstGeom>
          <a:noFill/>
          <a:ln/>
        </p:spPr>
        <p:txBody>
          <a:bodyPr wrap="square" lIns="0" tIns="0" rIns="0" bIns="0" rtlCol="0" anchor="ctr"/>
          <a:lstStyle/>
          <a:p>
            <a:pPr algn="l" indent="0" marL="0">
              <a:buNone/>
            </a:pPr>
            <a:r>
              <a:rPr lang="en-US" sz="1200" b="1" dirty="0">
                <a:solidFill>
                  <a:schemeClr val="accent2"/>
                </a:solidFill>
              </a:rPr>
              <a:t>No</a:t>
            </a:r>
            <a:endParaRPr lang="en-US" sz="1200" dirty="0"/>
          </a:p>
        </p:txBody>
      </p:sp>
      <p:sp>
        <p:nvSpPr>
          <p:cNvPr id="18" name="Text 16"/>
          <p:cNvSpPr txBox="1"/>
          <p:nvPr/>
        </p:nvSpPr>
        <p:spPr>
          <a:xfrm>
            <a:off x="6848856" y="923544"/>
            <a:ext cx="1828800" cy="274320"/>
          </a:xfrm>
          <a:prstGeom prst="rect">
            <a:avLst/>
          </a:prstGeom>
          <a:noFill/>
          <a:ln/>
        </p:spPr>
        <p:txBody>
          <a:bodyPr wrap="square" lIns="0" tIns="0" rIns="0" bIns="0" rtlCol="0" anchor="ctr"/>
          <a:lstStyle/>
          <a:p>
            <a:pPr algn="ctr" indent="0" marL="0">
              <a:buNone/>
            </a:pPr>
            <a:r>
              <a:rPr lang="en-US" sz="1200" b="1" dirty="0">
                <a:solidFill>
                  <a:schemeClr val="accent4"/>
                </a:solidFill>
              </a:rPr>
              <a:t>Yes: accept as is</a:t>
            </a:r>
            <a:endParaRPr lang="en-US" sz="1200" dirty="0"/>
          </a:p>
        </p:txBody>
      </p:sp>
      <p:sp>
        <p:nvSpPr>
          <p:cNvPr id="19" name="Shape 17"/>
          <p:cNvSpPr/>
          <p:nvPr/>
        </p:nvSpPr>
        <p:spPr>
          <a:xfrm>
            <a:off x="457200" y="2606040"/>
            <a:ext cx="3794760" cy="914400"/>
          </a:xfrm>
          <a:prstGeom prst="roundRect">
            <a:avLst>
              <a:gd name="adj" fmla="val 8000"/>
            </a:avLst>
          </a:prstGeom>
          <a:solidFill>
            <a:schemeClr val="bg2"/>
          </a:solidFill>
          <a:ln w="12700">
            <a:solidFill>
              <a:schemeClr val="bg2"/>
            </a:solidFill>
            <a:prstDash val="solid"/>
          </a:ln>
        </p:spPr>
      </p:sp>
      <p:sp>
        <p:nvSpPr>
          <p:cNvPr id="20" name="Text 18"/>
          <p:cNvSpPr txBox="1"/>
          <p:nvPr/>
        </p:nvSpPr>
        <p:spPr>
          <a:xfrm>
            <a:off x="640080" y="2606040"/>
            <a:ext cx="3474720" cy="914400"/>
          </a:xfrm>
          <a:prstGeom prst="rect">
            <a:avLst/>
          </a:prstGeom>
          <a:noFill/>
          <a:ln/>
        </p:spPr>
        <p:txBody>
          <a:bodyPr wrap="square" lIns="0" tIns="0" rIns="0" bIns="0" rtlCol="0" anchor="ctr"/>
          <a:lstStyle/>
          <a:p>
            <a:pPr indent="0" marL="0">
              <a:buNone/>
            </a:pPr>
            <a:r>
              <a:rPr lang="en-US" sz="1400" b="1" dirty="0">
                <a:solidFill>
                  <a:schemeClr val="tx1"/>
                </a:solidFill>
              </a:rPr>
              <a:t>Already found: </a:t>
            </a:r>
            <a:pPr indent="0" marL="0">
              <a:buNone/>
            </a:pPr>
            <a:r>
              <a:rPr lang="en-US" sz="1400" dirty="0">
                <a:solidFill>
                  <a:schemeClr val="tx1"/>
                </a:solidFill>
              </a:rPr>
              <a:t>“improve” (red) and “improvement” (yellow) are the same drawing</a:t>
            </a:r>
            <a:endParaRPr lang="en-US" sz="1400" dirty="0"/>
          </a:p>
        </p:txBody>
      </p:sp>
      <p:sp>
        <p:nvSpPr>
          <p:cNvPr id="21" name="Shape 19"/>
          <p:cNvSpPr/>
          <p:nvPr/>
        </p:nvSpPr>
        <p:spPr>
          <a:xfrm>
            <a:off x="457200" y="3749040"/>
            <a:ext cx="2651760" cy="914400"/>
          </a:xfrm>
          <a:prstGeom prst="roundRect">
            <a:avLst>
              <a:gd name="adj" fmla="val 8000"/>
            </a:avLst>
          </a:prstGeom>
          <a:solidFill>
            <a:schemeClr val="bg2"/>
          </a:solidFill>
          <a:ln w="12700">
            <a:solidFill>
              <a:schemeClr val="bg2"/>
            </a:solidFill>
            <a:prstDash val="solid"/>
          </a:ln>
        </p:spPr>
      </p:sp>
      <p:sp>
        <p:nvSpPr>
          <p:cNvPr id="22" name="Text 20"/>
          <p:cNvSpPr txBox="1"/>
          <p:nvPr/>
        </p:nvSpPr>
        <p:spPr>
          <a:xfrm>
            <a:off x="640080" y="3822192"/>
            <a:ext cx="2286000" cy="274320"/>
          </a:xfrm>
          <a:prstGeom prst="rect">
            <a:avLst/>
          </a:prstGeom>
          <a:noFill/>
          <a:ln/>
        </p:spPr>
        <p:txBody>
          <a:bodyPr wrap="square" lIns="0" tIns="0" rIns="0" bIns="0" rtlCol="0" anchor="ctr"/>
          <a:lstStyle/>
          <a:p>
            <a:pPr indent="0" marL="0">
              <a:buNone/>
            </a:pPr>
            <a:r>
              <a:rPr lang="en-US" sz="1400" b="1" dirty="0">
                <a:solidFill>
                  <a:schemeClr val="tx2"/>
                </a:solidFill>
              </a:rPr>
              <a:t>Run</a:t>
            </a:r>
            <a:endParaRPr lang="en-US" sz="1400" dirty="0"/>
          </a:p>
        </p:txBody>
      </p:sp>
      <p:sp>
        <p:nvSpPr>
          <p:cNvPr id="23" name="Text 21"/>
          <p:cNvSpPr txBox="1"/>
          <p:nvPr/>
        </p:nvSpPr>
        <p:spPr>
          <a:xfrm>
            <a:off x="640080" y="4096512"/>
            <a:ext cx="2377440" cy="530352"/>
          </a:xfrm>
          <a:prstGeom prst="rect">
            <a:avLst/>
          </a:prstGeom>
          <a:noFill/>
          <a:ln/>
        </p:spPr>
        <p:txBody>
          <a:bodyPr wrap="square" lIns="0" tIns="0" rIns="0" bIns="0" rtlCol="0" anchor="t"/>
          <a:lstStyle/>
          <a:p>
            <a:pPr indent="0" marL="0">
              <a:buNone/>
            </a:pPr>
            <a:r>
              <a:rPr lang="en-US" sz="1200" dirty="0">
                <a:solidFill>
                  <a:schemeClr val="tx1"/>
                </a:solidFill>
              </a:rPr>
              <a:t>Scheduled job or simple API; Azure ML or SageMaker if hosted</a:t>
            </a:r>
            <a:endParaRPr lang="en-US" sz="1200" dirty="0"/>
          </a:p>
        </p:txBody>
      </p:sp>
      <p:sp>
        <p:nvSpPr>
          <p:cNvPr id="24" name="Shape 22"/>
          <p:cNvSpPr/>
          <p:nvPr/>
        </p:nvSpPr>
        <p:spPr>
          <a:xfrm>
            <a:off x="3246120" y="3749040"/>
            <a:ext cx="2651760" cy="914400"/>
          </a:xfrm>
          <a:prstGeom prst="roundRect">
            <a:avLst>
              <a:gd name="adj" fmla="val 8000"/>
            </a:avLst>
          </a:prstGeom>
          <a:solidFill>
            <a:schemeClr val="bg2"/>
          </a:solidFill>
          <a:ln w="12700">
            <a:solidFill>
              <a:schemeClr val="bg2"/>
            </a:solidFill>
            <a:prstDash val="solid"/>
          </a:ln>
        </p:spPr>
      </p:sp>
      <p:sp>
        <p:nvSpPr>
          <p:cNvPr id="25" name="Text 23"/>
          <p:cNvSpPr txBox="1"/>
          <p:nvPr/>
        </p:nvSpPr>
        <p:spPr>
          <a:xfrm>
            <a:off x="3429000" y="3822192"/>
            <a:ext cx="2286000" cy="274320"/>
          </a:xfrm>
          <a:prstGeom prst="rect">
            <a:avLst/>
          </a:prstGeom>
          <a:noFill/>
          <a:ln/>
        </p:spPr>
        <p:txBody>
          <a:bodyPr wrap="square" lIns="0" tIns="0" rIns="0" bIns="0" rtlCol="0" anchor="ctr"/>
          <a:lstStyle/>
          <a:p>
            <a:pPr indent="0" marL="0">
              <a:buNone/>
            </a:pPr>
            <a:r>
              <a:rPr lang="en-US" sz="1400" b="1" dirty="0">
                <a:solidFill>
                  <a:schemeClr val="tx2"/>
                </a:solidFill>
              </a:rPr>
              <a:t>Monitor</a:t>
            </a:r>
            <a:endParaRPr lang="en-US" sz="1400" dirty="0"/>
          </a:p>
        </p:txBody>
      </p:sp>
      <p:sp>
        <p:nvSpPr>
          <p:cNvPr id="26" name="Text 24"/>
          <p:cNvSpPr txBox="1"/>
          <p:nvPr/>
        </p:nvSpPr>
        <p:spPr>
          <a:xfrm>
            <a:off x="3429000" y="4096512"/>
            <a:ext cx="2377440" cy="530352"/>
          </a:xfrm>
          <a:prstGeom prst="rect">
            <a:avLst/>
          </a:prstGeom>
          <a:noFill/>
          <a:ln/>
        </p:spPr>
        <p:txBody>
          <a:bodyPr wrap="square" lIns="0" tIns="0" rIns="0" bIns="0" rtlCol="0" anchor="t"/>
          <a:lstStyle/>
          <a:p>
            <a:pPr indent="0" marL="0">
              <a:buNone/>
            </a:pPr>
            <a:r>
              <a:rPr lang="en-US" sz="1200" dirty="0">
                <a:solidFill>
                  <a:schemeClr val="tx1"/>
                </a:solidFill>
              </a:rPr>
              <a:t>Flag rate and reviewer agreement</a:t>
            </a:r>
            <a:endParaRPr lang="en-US" sz="1200" dirty="0"/>
          </a:p>
        </p:txBody>
      </p:sp>
      <p:sp>
        <p:nvSpPr>
          <p:cNvPr id="27" name="Shape 25"/>
          <p:cNvSpPr/>
          <p:nvPr/>
        </p:nvSpPr>
        <p:spPr>
          <a:xfrm>
            <a:off x="6035040" y="3749040"/>
            <a:ext cx="2651760" cy="914400"/>
          </a:xfrm>
          <a:prstGeom prst="roundRect">
            <a:avLst>
              <a:gd name="adj" fmla="val 8000"/>
            </a:avLst>
          </a:prstGeom>
          <a:solidFill>
            <a:schemeClr val="bg2"/>
          </a:solidFill>
          <a:ln w="12700">
            <a:solidFill>
              <a:schemeClr val="bg2"/>
            </a:solidFill>
            <a:prstDash val="solid"/>
          </a:ln>
        </p:spPr>
      </p:sp>
      <p:sp>
        <p:nvSpPr>
          <p:cNvPr id="28" name="Text 26"/>
          <p:cNvSpPr txBox="1"/>
          <p:nvPr/>
        </p:nvSpPr>
        <p:spPr>
          <a:xfrm>
            <a:off x="6217920" y="3822192"/>
            <a:ext cx="2286000" cy="274320"/>
          </a:xfrm>
          <a:prstGeom prst="rect">
            <a:avLst/>
          </a:prstGeom>
          <a:noFill/>
          <a:ln/>
        </p:spPr>
        <p:txBody>
          <a:bodyPr wrap="square" lIns="0" tIns="0" rIns="0" bIns="0" rtlCol="0" anchor="ctr"/>
          <a:lstStyle/>
          <a:p>
            <a:pPr indent="0" marL="0">
              <a:buNone/>
            </a:pPr>
            <a:r>
              <a:rPr lang="en-US" sz="1400" b="1" dirty="0">
                <a:solidFill>
                  <a:schemeClr val="tx2"/>
                </a:solidFill>
              </a:rPr>
              <a:t>Retrain</a:t>
            </a:r>
            <a:endParaRPr lang="en-US" sz="1400" dirty="0"/>
          </a:p>
        </p:txBody>
      </p:sp>
      <p:sp>
        <p:nvSpPr>
          <p:cNvPr id="29" name="Text 27"/>
          <p:cNvSpPr txBox="1"/>
          <p:nvPr/>
        </p:nvSpPr>
        <p:spPr>
          <a:xfrm>
            <a:off x="6217920" y="4096512"/>
            <a:ext cx="2377440" cy="530352"/>
          </a:xfrm>
          <a:prstGeom prst="rect">
            <a:avLst/>
          </a:prstGeom>
          <a:noFill/>
          <a:ln/>
        </p:spPr>
        <p:txBody>
          <a:bodyPr wrap="square" lIns="0" tIns="0" rIns="0" bIns="0" rtlCol="0" anchor="t"/>
          <a:lstStyle/>
          <a:p>
            <a:pPr indent="0" marL="0">
              <a:buNone/>
            </a:pPr>
            <a:r>
              <a:rPr lang="en-US" sz="1200" dirty="0">
                <a:solidFill>
                  <a:schemeClr val="tx1"/>
                </a:solidFill>
              </a:rPr>
              <a:t>With each vocabulary release</a:t>
            </a:r>
            <a:endParaRPr lang="en-US" sz="12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b="1" dirty="0">
                <a:solidFill>
                  <a:schemeClr val="tx1"/>
                </a:solidFill>
                <a:latin typeface="Arial" pitchFamily="34" charset="0"/>
                <a:ea typeface="Arial" pitchFamily="34" charset="-122"/>
                <a:cs typeface="Arial" pitchFamily="34" charset="-120"/>
              </a:rPr>
              <a:t>Ethics: the real risk is in the mistakes</a:t>
            </a:r>
            <a:endParaRPr lang="en-US" sz="2400" dirty="0"/>
          </a:p>
        </p:txBody>
      </p:sp>
      <p:sp>
        <p:nvSpPr>
          <p:cNvPr id="3" name="Shape 1"/>
          <p:cNvSpPr/>
          <p:nvPr/>
        </p:nvSpPr>
        <p:spPr>
          <a:xfrm>
            <a:off x="457200" y="1051560"/>
            <a:ext cx="2651760" cy="2423160"/>
          </a:xfrm>
          <a:prstGeom prst="roundRect">
            <a:avLst>
              <a:gd name="adj" fmla="val 3019"/>
            </a:avLst>
          </a:prstGeom>
          <a:solidFill>
            <a:schemeClr val="bg2"/>
          </a:solidFill>
          <a:ln w="12700">
            <a:solidFill>
              <a:schemeClr val="bg2"/>
            </a:solidFill>
            <a:prstDash val="solid"/>
          </a:ln>
        </p:spPr>
      </p:sp>
      <p:sp>
        <p:nvSpPr>
          <p:cNvPr id="4" name="Text 2"/>
          <p:cNvSpPr txBox="1"/>
          <p:nvPr/>
        </p:nvSpPr>
        <p:spPr>
          <a:xfrm>
            <a:off x="640080" y="1188720"/>
            <a:ext cx="2286000" cy="365760"/>
          </a:xfrm>
          <a:prstGeom prst="rect">
            <a:avLst/>
          </a:prstGeom>
          <a:noFill/>
          <a:ln/>
        </p:spPr>
        <p:txBody>
          <a:bodyPr wrap="square" lIns="0" tIns="0" rIns="0" bIns="0" rtlCol="0" anchor="ctr"/>
          <a:lstStyle/>
          <a:p>
            <a:pPr indent="0" marL="0">
              <a:buNone/>
            </a:pPr>
            <a:r>
              <a:rPr lang="en-US" sz="1800" b="1" dirty="0">
                <a:solidFill>
                  <a:schemeClr val="accent4"/>
                </a:solidFill>
                <a:latin typeface="Arial" pitchFamily="34" charset="0"/>
                <a:ea typeface="Arial" pitchFamily="34" charset="-122"/>
                <a:cs typeface="Arial" pitchFamily="34" charset="-120"/>
              </a:rPr>
              <a:t>Privacy</a:t>
            </a:r>
            <a:endParaRPr lang="en-US" sz="1800" dirty="0"/>
          </a:p>
        </p:txBody>
      </p:sp>
      <p:sp>
        <p:nvSpPr>
          <p:cNvPr id="5" name="Text 3"/>
          <p:cNvSpPr txBox="1"/>
          <p:nvPr/>
        </p:nvSpPr>
        <p:spPr>
          <a:xfrm>
            <a:off x="640080" y="1645920"/>
            <a:ext cx="23774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No personal data: symbols, not people</a:t>
            </a:r>
            <a:endParaRPr lang="en-US" sz="1300" dirty="0"/>
          </a:p>
          <a:p>
            <a:pPr marL="342900" indent="-342900">
              <a:spcAft>
                <a:spcPts val="600"/>
              </a:spcAft>
              <a:buSzPct val="100000"/>
              <a:buChar char="•"/>
            </a:pPr>
            <a:r>
              <a:rPr lang="en-US" sz="1300" dirty="0">
                <a:solidFill>
                  <a:schemeClr val="tx1"/>
                </a:solidFill>
              </a:rPr>
              <a:t>Open licence, credited (CC BY-SA 4.0)</a:t>
            </a:r>
            <a:endParaRPr lang="en-US" sz="1300" dirty="0"/>
          </a:p>
          <a:p>
            <a:pPr marL="342900" indent="-342900">
              <a:spcAft>
                <a:spcPts val="600"/>
              </a:spcAft>
              <a:buSzPct val="100000"/>
              <a:buChar char="•"/>
            </a:pPr>
            <a:r>
              <a:rPr lang="en-US" sz="1300" dirty="0">
                <a:solidFill>
                  <a:schemeClr val="tx1"/>
                </a:solidFill>
              </a:rPr>
              <a:t>Dissertation data firewalled off</a:t>
            </a:r>
            <a:endParaRPr lang="en-US" sz="1300" dirty="0"/>
          </a:p>
        </p:txBody>
      </p:sp>
      <p:sp>
        <p:nvSpPr>
          <p:cNvPr id="6" name="Shape 4"/>
          <p:cNvSpPr/>
          <p:nvPr/>
        </p:nvSpPr>
        <p:spPr>
          <a:xfrm>
            <a:off x="3246120" y="1051560"/>
            <a:ext cx="2651760" cy="2423160"/>
          </a:xfrm>
          <a:prstGeom prst="roundRect">
            <a:avLst>
              <a:gd name="adj" fmla="val 3019"/>
            </a:avLst>
          </a:prstGeom>
          <a:solidFill>
            <a:schemeClr val="bg2"/>
          </a:solidFill>
          <a:ln w="12700">
            <a:solidFill>
              <a:schemeClr val="bg2"/>
            </a:solidFill>
            <a:prstDash val="solid"/>
          </a:ln>
        </p:spPr>
      </p:sp>
      <p:sp>
        <p:nvSpPr>
          <p:cNvPr id="7" name="Text 5"/>
          <p:cNvSpPr txBox="1"/>
          <p:nvPr/>
        </p:nvSpPr>
        <p:spPr>
          <a:xfrm>
            <a:off x="3429000" y="1188720"/>
            <a:ext cx="2286000" cy="365760"/>
          </a:xfrm>
          <a:prstGeom prst="rect">
            <a:avLst/>
          </a:prstGeom>
          <a:noFill/>
          <a:ln/>
        </p:spPr>
        <p:txBody>
          <a:bodyPr wrap="square" lIns="0" tIns="0" rIns="0" bIns="0" rtlCol="0" anchor="ctr"/>
          <a:lstStyle/>
          <a:p>
            <a:pPr indent="0" marL="0">
              <a:buNone/>
            </a:pPr>
            <a:r>
              <a:rPr lang="en-US" sz="1800" b="1" dirty="0">
                <a:solidFill>
                  <a:schemeClr val="accent2"/>
                </a:solidFill>
                <a:latin typeface="Arial" pitchFamily="34" charset="0"/>
                <a:ea typeface="Arial" pitchFamily="34" charset="-122"/>
                <a:cs typeface="Arial" pitchFamily="34" charset="-120"/>
              </a:rPr>
              <a:t>Mistakes</a:t>
            </a:r>
            <a:endParaRPr lang="en-US" sz="1800" dirty="0"/>
          </a:p>
        </p:txBody>
      </p:sp>
      <p:sp>
        <p:nvSpPr>
          <p:cNvPr id="8" name="Text 6"/>
          <p:cNvSpPr txBox="1"/>
          <p:nvPr/>
        </p:nvSpPr>
        <p:spPr>
          <a:xfrm>
            <a:off x="3429000" y="1645920"/>
            <a:ext cx="23774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False positive: a reviewer loses seconds</a:t>
            </a:r>
            <a:endParaRPr lang="en-US" sz="1300" dirty="0"/>
          </a:p>
          <a:p>
            <a:pPr marL="342900" indent="-342900">
              <a:spcAft>
                <a:spcPts val="600"/>
              </a:spcAft>
              <a:buSzPct val="100000"/>
              <a:buChar char="•"/>
            </a:pPr>
            <a:r>
              <a:rPr lang="en-US" sz="1300" dirty="0">
                <a:solidFill>
                  <a:schemeClr val="tx1"/>
                </a:solidFill>
              </a:rPr>
              <a:t>False negative: a wrong colour reaches users</a:t>
            </a:r>
            <a:endParaRPr lang="en-US" sz="1300" dirty="0"/>
          </a:p>
          <a:p>
            <a:pPr marL="342900" indent="-342900">
              <a:spcAft>
                <a:spcPts val="600"/>
              </a:spcAft>
              <a:buSzPct val="100000"/>
              <a:buChar char="•"/>
            </a:pPr>
            <a:r>
              <a:rPr lang="en-US" sz="1300" dirty="0">
                <a:solidFill>
                  <a:schemeClr val="tx1"/>
                </a:solidFill>
              </a:rPr>
              <a:t>Worst error: calling a person a thing</a:t>
            </a:r>
            <a:endParaRPr lang="en-US" sz="1300" dirty="0"/>
          </a:p>
        </p:txBody>
      </p:sp>
      <p:sp>
        <p:nvSpPr>
          <p:cNvPr id="9" name="Shape 7"/>
          <p:cNvSpPr/>
          <p:nvPr/>
        </p:nvSpPr>
        <p:spPr>
          <a:xfrm>
            <a:off x="6035040" y="1051560"/>
            <a:ext cx="2651760" cy="2423160"/>
          </a:xfrm>
          <a:prstGeom prst="roundRect">
            <a:avLst>
              <a:gd name="adj" fmla="val 3019"/>
            </a:avLst>
          </a:prstGeom>
          <a:solidFill>
            <a:schemeClr val="bg2"/>
          </a:solidFill>
          <a:ln w="12700">
            <a:solidFill>
              <a:schemeClr val="bg2"/>
            </a:solidFill>
            <a:prstDash val="solid"/>
          </a:ln>
        </p:spPr>
      </p:sp>
      <p:sp>
        <p:nvSpPr>
          <p:cNvPr id="10" name="Text 8"/>
          <p:cNvSpPr txBox="1"/>
          <p:nvPr/>
        </p:nvSpPr>
        <p:spPr>
          <a:xfrm>
            <a:off x="6217920" y="1188720"/>
            <a:ext cx="2286000" cy="365760"/>
          </a:xfrm>
          <a:prstGeom prst="rect">
            <a:avLst/>
          </a:prstGeom>
          <a:noFill/>
          <a:ln/>
        </p:spPr>
        <p:txBody>
          <a:bodyPr wrap="square" lIns="0" tIns="0" rIns="0" bIns="0" rtlCol="0" anchor="ctr"/>
          <a:lstStyle/>
          <a:p>
            <a:pPr indent="0" marL="0">
              <a:buNone/>
            </a:pPr>
            <a:r>
              <a:rPr lang="en-US" sz="1800" b="1" dirty="0">
                <a:solidFill>
                  <a:schemeClr val="accent3"/>
                </a:solidFill>
                <a:latin typeface="Arial" pitchFamily="34" charset="0"/>
                <a:ea typeface="Arial" pitchFamily="34" charset="-122"/>
                <a:cs typeface="Arial" pitchFamily="34" charset="-120"/>
              </a:rPr>
              <a:t>Safeguards</a:t>
            </a:r>
            <a:endParaRPr lang="en-US" sz="1800" dirty="0"/>
          </a:p>
        </p:txBody>
      </p:sp>
      <p:sp>
        <p:nvSpPr>
          <p:cNvPr id="11" name="Text 9"/>
          <p:cNvSpPr txBox="1"/>
          <p:nvPr/>
        </p:nvSpPr>
        <p:spPr>
          <a:xfrm>
            <a:off x="6217920" y="1645920"/>
            <a:ext cx="23774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The tool flags; a person decides</a:t>
            </a:r>
            <a:endParaRPr lang="en-US" sz="1300" dirty="0"/>
          </a:p>
          <a:p>
            <a:pPr marL="342900" indent="-342900">
              <a:spcAft>
                <a:spcPts val="600"/>
              </a:spcAft>
              <a:buSzPct val="100000"/>
              <a:buChar char="•"/>
            </a:pPr>
            <a:r>
              <a:rPr lang="en-US" sz="1300" dirty="0">
                <a:solidFill>
                  <a:schemeClr val="tx1"/>
                </a:solidFill>
              </a:rPr>
              <a:t>Report per-family results, not just averages</a:t>
            </a:r>
            <a:endParaRPr lang="en-US" sz="1300" dirty="0"/>
          </a:p>
          <a:p>
            <a:pPr marL="342900" indent="-342900">
              <a:spcAft>
                <a:spcPts val="600"/>
              </a:spcAft>
              <a:buSzPct val="100000"/>
              <a:buChar char="•"/>
            </a:pPr>
            <a:r>
              <a:rPr lang="en-US" sz="1300" dirty="0">
                <a:solidFill>
                  <a:schemeClr val="tx1"/>
                </a:solidFill>
              </a:rPr>
              <a:t>Publish known weak spots</a:t>
            </a:r>
            <a:endParaRPr lang="en-US" sz="1300" dirty="0"/>
          </a:p>
        </p:txBody>
      </p:sp>
      <p:sp>
        <p:nvSpPr>
          <p:cNvPr id="12" name="Text 10"/>
          <p:cNvSpPr txBox="1"/>
          <p:nvPr/>
        </p:nvSpPr>
        <p:spPr>
          <a:xfrm>
            <a:off x="457200" y="3657600"/>
            <a:ext cx="2743200" cy="274320"/>
          </a:xfrm>
          <a:prstGeom prst="rect">
            <a:avLst/>
          </a:prstGeom>
          <a:noFill/>
          <a:ln/>
        </p:spPr>
        <p:txBody>
          <a:bodyPr wrap="square" lIns="0" tIns="0" rIns="0" bIns="0" rtlCol="0" anchor="ctr"/>
          <a:lstStyle/>
          <a:p>
            <a:pPr indent="0" marL="0">
              <a:buNone/>
            </a:pPr>
            <a:r>
              <a:rPr lang="en-US" sz="1400" b="1" dirty="0">
                <a:solidFill>
                  <a:schemeClr val="tx2"/>
                </a:solidFill>
              </a:rPr>
              <a:t>Stakeholders</a:t>
            </a:r>
            <a:endParaRPr lang="en-US" sz="1400" dirty="0"/>
          </a:p>
        </p:txBody>
      </p:sp>
      <p:sp>
        <p:nvSpPr>
          <p:cNvPr id="13" name="Shape 11"/>
          <p:cNvSpPr/>
          <p:nvPr/>
        </p:nvSpPr>
        <p:spPr>
          <a:xfrm>
            <a:off x="457200" y="4023360"/>
            <a:ext cx="1874520" cy="548640"/>
          </a:xfrm>
          <a:prstGeom prst="roundRect">
            <a:avLst>
              <a:gd name="adj" fmla="val 16667"/>
            </a:avLst>
          </a:prstGeom>
          <a:solidFill>
            <a:schemeClr val="bg1"/>
          </a:solidFill>
          <a:ln w="12700">
            <a:solidFill>
              <a:srgbClr val="C9D1DC"/>
            </a:solidFill>
            <a:prstDash val="solid"/>
          </a:ln>
        </p:spPr>
      </p:sp>
      <p:sp>
        <p:nvSpPr>
          <p:cNvPr id="14" name="Text 12"/>
          <p:cNvSpPr txBox="1"/>
          <p:nvPr/>
        </p:nvSpPr>
        <p:spPr>
          <a:xfrm>
            <a:off x="502920" y="4023360"/>
            <a:ext cx="1783080" cy="548640"/>
          </a:xfrm>
          <a:prstGeom prst="rect">
            <a:avLst/>
          </a:prstGeom>
          <a:noFill/>
          <a:ln/>
        </p:spPr>
        <p:txBody>
          <a:bodyPr wrap="square" lIns="0" tIns="0" rIns="0" bIns="0" rtlCol="0" anchor="ctr"/>
          <a:lstStyle/>
          <a:p>
            <a:pPr algn="ctr" indent="0" marL="0">
              <a:buNone/>
            </a:pPr>
            <a:r>
              <a:rPr lang="en-US" sz="1200" dirty="0">
                <a:solidFill>
                  <a:schemeClr val="tx1"/>
                </a:solidFill>
              </a:rPr>
              <a:t>Non-speaking users and families</a:t>
            </a:r>
            <a:endParaRPr lang="en-US" sz="1200" dirty="0"/>
          </a:p>
        </p:txBody>
      </p:sp>
      <p:sp>
        <p:nvSpPr>
          <p:cNvPr id="15" name="Shape 13"/>
          <p:cNvSpPr/>
          <p:nvPr/>
        </p:nvSpPr>
        <p:spPr>
          <a:xfrm>
            <a:off x="2468880" y="4023360"/>
            <a:ext cx="1874520" cy="548640"/>
          </a:xfrm>
          <a:prstGeom prst="roundRect">
            <a:avLst>
              <a:gd name="adj" fmla="val 16667"/>
            </a:avLst>
          </a:prstGeom>
          <a:solidFill>
            <a:schemeClr val="bg1"/>
          </a:solidFill>
          <a:ln w="12700">
            <a:solidFill>
              <a:srgbClr val="C9D1DC"/>
            </a:solidFill>
            <a:prstDash val="solid"/>
          </a:ln>
        </p:spPr>
      </p:sp>
      <p:sp>
        <p:nvSpPr>
          <p:cNvPr id="16" name="Text 14"/>
          <p:cNvSpPr txBox="1"/>
          <p:nvPr/>
        </p:nvSpPr>
        <p:spPr>
          <a:xfrm>
            <a:off x="2514600" y="4023360"/>
            <a:ext cx="1783080" cy="548640"/>
          </a:xfrm>
          <a:prstGeom prst="rect">
            <a:avLst/>
          </a:prstGeom>
          <a:noFill/>
          <a:ln/>
        </p:spPr>
        <p:txBody>
          <a:bodyPr wrap="square" lIns="0" tIns="0" rIns="0" bIns="0" rtlCol="0" anchor="ctr"/>
          <a:lstStyle/>
          <a:p>
            <a:pPr algn="ctr" indent="0" marL="0">
              <a:buNone/>
            </a:pPr>
            <a:r>
              <a:rPr lang="en-US" sz="1200" dirty="0">
                <a:solidFill>
                  <a:schemeClr val="tx1"/>
                </a:solidFill>
              </a:rPr>
              <a:t>Speech and language therapists</a:t>
            </a:r>
            <a:endParaRPr lang="en-US" sz="1200" dirty="0"/>
          </a:p>
        </p:txBody>
      </p:sp>
      <p:sp>
        <p:nvSpPr>
          <p:cNvPr id="17" name="Shape 15"/>
          <p:cNvSpPr/>
          <p:nvPr/>
        </p:nvSpPr>
        <p:spPr>
          <a:xfrm>
            <a:off x="4480560" y="4023360"/>
            <a:ext cx="1463040" cy="548640"/>
          </a:xfrm>
          <a:prstGeom prst="roundRect">
            <a:avLst>
              <a:gd name="adj" fmla="val 16667"/>
            </a:avLst>
          </a:prstGeom>
          <a:solidFill>
            <a:schemeClr val="bg1"/>
          </a:solidFill>
          <a:ln w="12700">
            <a:solidFill>
              <a:srgbClr val="C9D1DC"/>
            </a:solidFill>
            <a:prstDash val="solid"/>
          </a:ln>
        </p:spPr>
      </p:sp>
      <p:sp>
        <p:nvSpPr>
          <p:cNvPr id="18" name="Text 16"/>
          <p:cNvSpPr txBox="1"/>
          <p:nvPr/>
        </p:nvSpPr>
        <p:spPr>
          <a:xfrm>
            <a:off x="4526280" y="4023360"/>
            <a:ext cx="1371600" cy="548640"/>
          </a:xfrm>
          <a:prstGeom prst="rect">
            <a:avLst/>
          </a:prstGeom>
          <a:noFill/>
          <a:ln/>
        </p:spPr>
        <p:txBody>
          <a:bodyPr wrap="square" lIns="0" tIns="0" rIns="0" bIns="0" rtlCol="0" anchor="ctr"/>
          <a:lstStyle/>
          <a:p>
            <a:pPr algn="ctr" indent="0" marL="0">
              <a:buNone/>
            </a:pPr>
            <a:r>
              <a:rPr lang="en-US" sz="1200" dirty="0">
                <a:solidFill>
                  <a:schemeClr val="tx1"/>
                </a:solidFill>
              </a:rPr>
              <a:t>NHS AAC services</a:t>
            </a:r>
            <a:endParaRPr lang="en-US" sz="1200" dirty="0"/>
          </a:p>
        </p:txBody>
      </p:sp>
      <p:sp>
        <p:nvSpPr>
          <p:cNvPr id="19" name="Shape 17"/>
          <p:cNvSpPr/>
          <p:nvPr/>
        </p:nvSpPr>
        <p:spPr>
          <a:xfrm>
            <a:off x="6080760" y="4023360"/>
            <a:ext cx="1691640" cy="548640"/>
          </a:xfrm>
          <a:prstGeom prst="roundRect">
            <a:avLst>
              <a:gd name="adj" fmla="val 16667"/>
            </a:avLst>
          </a:prstGeom>
          <a:solidFill>
            <a:schemeClr val="bg1"/>
          </a:solidFill>
          <a:ln w="12700">
            <a:solidFill>
              <a:srgbClr val="C9D1DC"/>
            </a:solidFill>
            <a:prstDash val="solid"/>
          </a:ln>
        </p:spPr>
      </p:sp>
      <p:sp>
        <p:nvSpPr>
          <p:cNvPr id="20" name="Text 18"/>
          <p:cNvSpPr txBox="1"/>
          <p:nvPr/>
        </p:nvSpPr>
        <p:spPr>
          <a:xfrm>
            <a:off x="6126480" y="4023360"/>
            <a:ext cx="1600200" cy="548640"/>
          </a:xfrm>
          <a:prstGeom prst="rect">
            <a:avLst/>
          </a:prstGeom>
          <a:noFill/>
          <a:ln/>
        </p:spPr>
        <p:txBody>
          <a:bodyPr wrap="square" lIns="0" tIns="0" rIns="0" bIns="0" rtlCol="0" anchor="ctr"/>
          <a:lstStyle/>
          <a:p>
            <a:pPr algn="ctr" indent="0" marL="0">
              <a:buNone/>
            </a:pPr>
            <a:r>
              <a:rPr lang="en-US" sz="1200" dirty="0">
                <a:solidFill>
                  <a:schemeClr val="tx1"/>
                </a:solidFill>
              </a:rPr>
              <a:t>Symbol software makers</a:t>
            </a:r>
            <a:endParaRPr lang="en-US" sz="1200" dirty="0"/>
          </a:p>
        </p:txBody>
      </p:sp>
      <p:sp>
        <p:nvSpPr>
          <p:cNvPr id="21" name="Shape 19"/>
          <p:cNvSpPr/>
          <p:nvPr/>
        </p:nvSpPr>
        <p:spPr>
          <a:xfrm>
            <a:off x="7909560" y="4023360"/>
            <a:ext cx="777240" cy="548640"/>
          </a:xfrm>
          <a:prstGeom prst="roundRect">
            <a:avLst>
              <a:gd name="adj" fmla="val 16667"/>
            </a:avLst>
          </a:prstGeom>
          <a:solidFill>
            <a:schemeClr val="bg1"/>
          </a:solidFill>
          <a:ln w="12700">
            <a:solidFill>
              <a:srgbClr val="C9D1DC"/>
            </a:solidFill>
            <a:prstDash val="solid"/>
          </a:ln>
        </p:spPr>
      </p:sp>
      <p:sp>
        <p:nvSpPr>
          <p:cNvPr id="22" name="Text 20"/>
          <p:cNvSpPr txBox="1"/>
          <p:nvPr/>
        </p:nvSpPr>
        <p:spPr>
          <a:xfrm>
            <a:off x="7955280" y="4023360"/>
            <a:ext cx="685800" cy="548640"/>
          </a:xfrm>
          <a:prstGeom prst="rect">
            <a:avLst/>
          </a:prstGeom>
          <a:noFill/>
          <a:ln/>
        </p:spPr>
        <p:txBody>
          <a:bodyPr wrap="square" lIns="0" tIns="0" rIns="0" bIns="0" rtlCol="0" anchor="ctr"/>
          <a:lstStyle/>
          <a:p>
            <a:pPr algn="ctr" indent="0" marL="0">
              <a:buNone/>
            </a:pPr>
            <a:r>
              <a:rPr lang="en-US" sz="1200" dirty="0">
                <a:solidFill>
                  <a:schemeClr val="tx1"/>
                </a:solidFill>
              </a:rPr>
              <a:t>BCI</a:t>
            </a:r>
            <a:endParaRPr lang="en-US" sz="12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What I learned, and what's next</a:t>
            </a:r>
            <a:endParaRPr lang="en-US" sz="3000" dirty="0"/>
          </a:p>
        </p:txBody>
      </p:sp>
      <p:sp>
        <p:nvSpPr>
          <p:cNvPr id="3" name="Shape 1"/>
          <p:cNvSpPr/>
          <p:nvPr/>
        </p:nvSpPr>
        <p:spPr>
          <a:xfrm>
            <a:off x="548640" y="137160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548640"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143000" y="1325880"/>
            <a:ext cx="740664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Domain knowledge beat model size</a:t>
            </a:r>
            <a:endParaRPr lang="en-US" sz="1800" dirty="0"/>
          </a:p>
        </p:txBody>
      </p:sp>
      <p:sp>
        <p:nvSpPr>
          <p:cNvPr id="6" name="Text 4"/>
          <p:cNvSpPr txBox="1"/>
          <p:nvPr/>
        </p:nvSpPr>
        <p:spPr>
          <a:xfrm>
            <a:off x="1143000" y="1691640"/>
            <a:ext cx="7406640" cy="320040"/>
          </a:xfrm>
          <a:prstGeom prst="rect">
            <a:avLst/>
          </a:prstGeom>
          <a:noFill/>
          <a:ln/>
        </p:spPr>
        <p:txBody>
          <a:bodyPr wrap="square" lIns="0" tIns="0" rIns="0" bIns="0" rtlCol="0" anchor="ctr"/>
          <a:lstStyle/>
          <a:p>
            <a:pPr indent="0" marL="0">
              <a:buNone/>
            </a:pPr>
            <a:r>
              <a:rPr lang="en-US" sz="1400" dirty="0">
                <a:solidFill>
                  <a:srgbClr val="D6DCE5"/>
                </a:solidFill>
              </a:rPr>
              <a:t>Left-aligning, from BCI's own rule, closed most of the gap to a pretrained network</a:t>
            </a:r>
            <a:endParaRPr lang="en-US" sz="1400" dirty="0"/>
          </a:p>
        </p:txBody>
      </p:sp>
      <p:sp>
        <p:nvSpPr>
          <p:cNvPr id="7" name="Shape 5"/>
          <p:cNvSpPr/>
          <p:nvPr/>
        </p:nvSpPr>
        <p:spPr>
          <a:xfrm>
            <a:off x="548640" y="2240280"/>
            <a:ext cx="384048" cy="384048"/>
          </a:xfrm>
          <a:prstGeom prst="ellipse">
            <a:avLst/>
          </a:prstGeom>
          <a:solidFill>
            <a:schemeClr val="accent2"/>
          </a:solidFill>
          <a:ln w="12700">
            <a:solidFill>
              <a:schemeClr val="accent2"/>
            </a:solidFill>
            <a:prstDash val="solid"/>
          </a:ln>
        </p:spPr>
      </p:sp>
      <p:sp>
        <p:nvSpPr>
          <p:cNvPr id="8" name="Text 6"/>
          <p:cNvSpPr txBox="1"/>
          <p:nvPr/>
        </p:nvSpPr>
        <p:spPr>
          <a:xfrm>
            <a:off x="54864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143000" y="2194560"/>
            <a:ext cx="740664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Small settings matter</a:t>
            </a:r>
            <a:endParaRPr lang="en-US" sz="1800" dirty="0"/>
          </a:p>
        </p:txBody>
      </p:sp>
      <p:sp>
        <p:nvSpPr>
          <p:cNvPr id="10" name="Text 8"/>
          <p:cNvSpPr txBox="1"/>
          <p:nvPr/>
        </p:nvSpPr>
        <p:spPr>
          <a:xfrm>
            <a:off x="1143000" y="2560320"/>
            <a:ext cx="7406640" cy="320040"/>
          </a:xfrm>
          <a:prstGeom prst="rect">
            <a:avLst/>
          </a:prstGeom>
          <a:noFill/>
          <a:ln/>
        </p:spPr>
        <p:txBody>
          <a:bodyPr wrap="square" lIns="0" tIns="0" rIns="0" bIns="0" rtlCol="0" anchor="ctr"/>
          <a:lstStyle/>
          <a:p>
            <a:pPr indent="0" marL="0">
              <a:buNone/>
            </a:pPr>
            <a:r>
              <a:rPr lang="en-US" sz="1400" dirty="0">
                <a:solidFill>
                  <a:srgbClr val="D6DCE5"/>
                </a:solidFill>
              </a:rPr>
              <a:t>One loss setting moved a model more than the gap between model types</a:t>
            </a:r>
            <a:endParaRPr lang="en-US" sz="1400" dirty="0"/>
          </a:p>
        </p:txBody>
      </p:sp>
      <p:sp>
        <p:nvSpPr>
          <p:cNvPr id="11" name="Shape 9"/>
          <p:cNvSpPr/>
          <p:nvPr/>
        </p:nvSpPr>
        <p:spPr>
          <a:xfrm>
            <a:off x="548640" y="3108960"/>
            <a:ext cx="384048" cy="384048"/>
          </a:xfrm>
          <a:prstGeom prst="ellipse">
            <a:avLst/>
          </a:prstGeom>
          <a:solidFill>
            <a:schemeClr val="accent3"/>
          </a:solidFill>
          <a:ln w="12700">
            <a:solidFill>
              <a:schemeClr val="accent3"/>
            </a:solidFill>
            <a:prstDash val="solid"/>
          </a:ln>
        </p:spPr>
      </p:sp>
      <p:sp>
        <p:nvSpPr>
          <p:cNvPr id="12" name="Text 10"/>
          <p:cNvSpPr txBox="1"/>
          <p:nvPr/>
        </p:nvSpPr>
        <p:spPr>
          <a:xfrm>
            <a:off x="548640"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143000" y="3063240"/>
            <a:ext cx="7406640" cy="36576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Pre-declare, then test</a:t>
            </a:r>
            <a:endParaRPr lang="en-US" sz="1800" dirty="0"/>
          </a:p>
        </p:txBody>
      </p:sp>
      <p:sp>
        <p:nvSpPr>
          <p:cNvPr id="14" name="Text 12"/>
          <p:cNvSpPr txBox="1"/>
          <p:nvPr/>
        </p:nvSpPr>
        <p:spPr>
          <a:xfrm>
            <a:off x="1143000" y="3429000"/>
            <a:ext cx="7406640" cy="320040"/>
          </a:xfrm>
          <a:prstGeom prst="rect">
            <a:avLst/>
          </a:prstGeom>
          <a:noFill/>
          <a:ln/>
        </p:spPr>
        <p:txBody>
          <a:bodyPr wrap="square" lIns="0" tIns="0" rIns="0" bIns="0" rtlCol="0" anchor="ctr"/>
          <a:lstStyle/>
          <a:p>
            <a:pPr indent="0" marL="0">
              <a:buNone/>
            </a:pPr>
            <a:r>
              <a:rPr lang="en-US" sz="1400" dirty="0">
                <a:solidFill>
                  <a:srgbClr val="D6DCE5"/>
                </a:solidFill>
              </a:rPr>
              <a:t>My own explanations were wrong twice; written success rules caught it</a:t>
            </a:r>
            <a:endParaRPr lang="en-US" sz="1400" dirty="0"/>
          </a:p>
        </p:txBody>
      </p:sp>
      <p:sp>
        <p:nvSpPr>
          <p:cNvPr id="15" name="Text 13"/>
          <p:cNvSpPr txBox="1"/>
          <p:nvPr/>
        </p:nvSpPr>
        <p:spPr>
          <a:xfrm>
            <a:off x="548640" y="4069080"/>
            <a:ext cx="8046720" cy="411480"/>
          </a:xfrm>
          <a:prstGeom prst="rect">
            <a:avLst/>
          </a:prstGeom>
          <a:noFill/>
          <a:ln/>
        </p:spPr>
        <p:txBody>
          <a:bodyPr wrap="square" lIns="0" tIns="0" rIns="0" bIns="0" rtlCol="0" anchor="ctr"/>
          <a:lstStyle/>
          <a:p>
            <a:pPr indent="0" marL="0">
              <a:buNone/>
            </a:pPr>
            <a:r>
              <a:rPr lang="en-US" sz="1500" b="1" dirty="0">
                <a:solidFill>
                  <a:srgbClr val="EDA100"/>
                </a:solidFill>
              </a:rPr>
              <a:t>Next  </a:t>
            </a:r>
            <a:pPr indent="0" marL="0">
              <a:buNone/>
            </a:pPr>
            <a:r>
              <a:rPr lang="en-US" sz="1500" dirty="0">
                <a:solidFill>
                  <a:srgbClr val="FFFFFF"/>
                </a:solidFill>
              </a:rPr>
              <a:t>Combine the drawing with the symbol's English word; try the method on other symbol sets</a:t>
            </a:r>
            <a:endParaRPr lang="en-US" sz="15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AB4C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t"/>
          <a:lstStyle/>
          <a:p>
            <a:pPr algn="l" indent="0" marL="0">
              <a:buNone/>
            </a:pPr>
            <a:r>
              <a:rPr lang="en-US" sz="2400" b="1" dirty="0">
                <a:solidFill>
                  <a:schemeClr val="tx1"/>
                </a:solidFill>
                <a:latin typeface="Arial" pitchFamily="34" charset="0"/>
                <a:ea typeface="Arial" pitchFamily="34" charset="-122"/>
                <a:cs typeface="Arial" pitchFamily="34" charset="-120"/>
              </a:rPr>
              <a:t>References</a:t>
            </a:r>
            <a:endParaRPr lang="en-US" sz="2400" dirty="0"/>
          </a:p>
        </p:txBody>
      </p:sp>
      <p:sp>
        <p:nvSpPr>
          <p:cNvPr id="3" name="Text 1"/>
          <p:cNvSpPr txBox="1"/>
          <p:nvPr/>
        </p:nvSpPr>
        <p:spPr>
          <a:xfrm>
            <a:off x="457200" y="960120"/>
            <a:ext cx="4023360" cy="379476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BCI Fundamental Rules Working Group (2003) </a:t>
            </a:r>
            <a:pPr indent="0" marL="0">
              <a:spcAft>
                <a:spcPts val="400"/>
              </a:spcAft>
              <a:buNone/>
            </a:pPr>
            <a:r>
              <a:rPr lang="en-US" sz="1000" i="1" dirty="0">
                <a:solidFill>
                  <a:schemeClr val="tx1"/>
                </a:solidFill>
              </a:rPr>
              <a:t>The fundamental rules of Blissymbolics: creating new Blissymbolics characters and vocabulary</a:t>
            </a:r>
            <a:pPr indent="0" marL="0">
              <a:spcAft>
                <a:spcPts val="400"/>
              </a:spcAft>
              <a:buNone/>
            </a:pPr>
            <a:r>
              <a:rPr lang="en-US" sz="1000" dirty="0">
                <a:solidFill>
                  <a:schemeClr val="tx1"/>
                </a:solidFill>
              </a:rPr>
              <a:t>. Available at: https://www.evertype.com/standards/by/bliss-rules-20030921.pdf (Accessed: 9 October 2026).</a:t>
            </a:r>
            <a:endParaRPr lang="en-US" sz="1000" dirty="0"/>
          </a:p>
          <a:p>
            <a:pPr indent="0" marL="0">
              <a:spcAft>
                <a:spcPts val="400"/>
              </a:spcAft>
              <a:buNone/>
            </a:pPr>
            <a:r>
              <a:rPr lang="en-US" sz="1000" dirty="0">
                <a:solidFill>
                  <a:schemeClr val="tx1"/>
                </a:solidFill>
              </a:rPr>
              <a:t>Blissymbolics Communication International (2026) </a:t>
            </a:r>
            <a:pPr indent="0" marL="0">
              <a:spcAft>
                <a:spcPts val="400"/>
              </a:spcAft>
              <a:buNone/>
            </a:pPr>
            <a:r>
              <a:rPr lang="en-US" sz="1000" i="1" dirty="0">
                <a:solidFill>
                  <a:schemeClr val="tx1"/>
                </a:solidFill>
              </a:rPr>
              <a:t>BCI Authorised Vocabulary (BCI-AV), July 2026 release</a:t>
            </a:r>
            <a:pPr indent="0" marL="0">
              <a:spcAft>
                <a:spcPts val="400"/>
              </a:spcAft>
              <a:buNone/>
            </a:pPr>
            <a:r>
              <a:rPr lang="en-US" sz="1000" dirty="0">
                <a:solidFill>
                  <a:schemeClr val="tx1"/>
                </a:solidFill>
              </a:rPr>
              <a:t>. Available at: https://www.blissymbolics.org/ (Accessed: 9 October 2026).</a:t>
            </a:r>
            <a:endParaRPr lang="en-US" sz="1000" dirty="0"/>
          </a:p>
          <a:p>
            <a:pPr indent="0" marL="0">
              <a:spcAft>
                <a:spcPts val="400"/>
              </a:spcAft>
              <a:buNone/>
            </a:pPr>
            <a:r>
              <a:rPr lang="en-US" sz="1000" dirty="0">
                <a:solidFill>
                  <a:schemeClr val="tx1"/>
                </a:solidFill>
              </a:rPr>
              <a:t>Blondel, V.D., Guillaume, J.-L., Lambiotte, R. and Lefebvre, E. (2008) 'Fast unfolding of communities in large networks', </a:t>
            </a:r>
            <a:pPr indent="0" marL="0">
              <a:spcAft>
                <a:spcPts val="400"/>
              </a:spcAft>
              <a:buNone/>
            </a:pPr>
            <a:r>
              <a:rPr lang="en-US" sz="1000" i="1" dirty="0">
                <a:solidFill>
                  <a:schemeClr val="tx1"/>
                </a:solidFill>
              </a:rPr>
              <a:t>Journal of Statistical Mechanics: Theory and Experiment</a:t>
            </a:r>
            <a:pPr indent="0" marL="0">
              <a:spcAft>
                <a:spcPts val="400"/>
              </a:spcAft>
              <a:buNone/>
            </a:pPr>
            <a:r>
              <a:rPr lang="en-US" sz="1000" dirty="0">
                <a:solidFill>
                  <a:schemeClr val="tx1"/>
                </a:solidFill>
              </a:rPr>
              <a:t>, P10008.</a:t>
            </a:r>
            <a:endParaRPr lang="en-US" sz="1000" dirty="0"/>
          </a:p>
          <a:p>
            <a:pPr indent="0" marL="0">
              <a:spcAft>
                <a:spcPts val="400"/>
              </a:spcAft>
              <a:buNone/>
            </a:pPr>
            <a:r>
              <a:rPr lang="en-US" sz="1000" dirty="0">
                <a:solidFill>
                  <a:schemeClr val="tx1"/>
                </a:solidFill>
              </a:rPr>
              <a:t>Dalal, N. and Triggs, B. (2005) 'Histograms of oriented gradients for human detection', </a:t>
            </a:r>
            <a:pPr indent="0" marL="0">
              <a:spcAft>
                <a:spcPts val="400"/>
              </a:spcAft>
              <a:buNone/>
            </a:pPr>
            <a:r>
              <a:rPr lang="en-US" sz="1000" i="1" dirty="0">
                <a:solidFill>
                  <a:schemeClr val="tx1"/>
                </a:solidFill>
              </a:rPr>
              <a:t>IEEE CVPR 2005</a:t>
            </a:r>
            <a:pPr indent="0" marL="0">
              <a:spcAft>
                <a:spcPts val="400"/>
              </a:spcAft>
              <a:buNone/>
            </a:pPr>
            <a:r>
              <a:rPr lang="en-US" sz="1000" dirty="0">
                <a:solidFill>
                  <a:schemeClr val="tx1"/>
                </a:solidFill>
              </a:rPr>
              <a:t>, pp. 886–893. Available at: https://doi.org/10.1109/CVPR.2005.177.</a:t>
            </a:r>
            <a:endParaRPr lang="en-US" sz="1000" dirty="0"/>
          </a:p>
          <a:p>
            <a:pPr indent="0" marL="0">
              <a:spcAft>
                <a:spcPts val="400"/>
              </a:spcAft>
              <a:buNone/>
            </a:pPr>
            <a:r>
              <a:rPr lang="en-US" sz="1000" dirty="0">
                <a:solidFill>
                  <a:schemeClr val="tx1"/>
                </a:solidFill>
              </a:rPr>
              <a:t>He, K., Zhang, X., Ren, S. and Sun, J. (2015) 'Deep residual learning for image recognition', </a:t>
            </a:r>
            <a:pPr indent="0" marL="0">
              <a:spcAft>
                <a:spcPts val="400"/>
              </a:spcAft>
              <a:buNone/>
            </a:pPr>
            <a:r>
              <a:rPr lang="en-US" sz="1000" i="1" dirty="0">
                <a:solidFill>
                  <a:schemeClr val="tx1"/>
                </a:solidFill>
              </a:rPr>
              <a:t>arXiv</a:t>
            </a:r>
            <a:pPr indent="0" marL="0">
              <a:spcAft>
                <a:spcPts val="400"/>
              </a:spcAft>
              <a:buNone/>
            </a:pPr>
            <a:r>
              <a:rPr lang="en-US" sz="1000" dirty="0">
                <a:solidFill>
                  <a:schemeClr val="tx1"/>
                </a:solidFill>
              </a:rPr>
              <a:t>. Available at: https://arxiv.org/abs/1512.03385.</a:t>
            </a:r>
            <a:endParaRPr lang="en-US" sz="1000" dirty="0"/>
          </a:p>
          <a:p>
            <a:pPr indent="0" marL="0">
              <a:spcAft>
                <a:spcPts val="400"/>
              </a:spcAft>
              <a:buNone/>
            </a:pPr>
            <a:r>
              <a:rPr lang="en-US" sz="1000" dirty="0">
                <a:solidFill>
                  <a:schemeClr val="tx1"/>
                </a:solidFill>
              </a:rPr>
              <a:t>Inclusive Design Research Centre (no date) </a:t>
            </a:r>
            <a:pPr indent="0" marL="0">
              <a:spcAft>
                <a:spcPts val="400"/>
              </a:spcAft>
              <a:buNone/>
            </a:pPr>
            <a:r>
              <a:rPr lang="en-US" sz="1000" i="1" dirty="0">
                <a:solidFill>
                  <a:schemeClr val="tx1"/>
                </a:solidFill>
              </a:rPr>
              <a:t>Baby Bliss Bot</a:t>
            </a:r>
            <a:pPr indent="0" marL="0">
              <a:spcAft>
                <a:spcPts val="400"/>
              </a:spcAft>
              <a:buNone/>
            </a:pPr>
            <a:r>
              <a:rPr lang="en-US" sz="1000" dirty="0">
                <a:solidFill>
                  <a:schemeClr val="tx1"/>
                </a:solidFill>
              </a:rPr>
              <a:t>. Available at: https://github.com/inclusive-design/baby-bliss-bot (Accessed: 9 October 2026).</a:t>
            </a:r>
            <a:endParaRPr lang="en-US" sz="1000" dirty="0"/>
          </a:p>
          <a:p>
            <a:pPr indent="0" marL="0">
              <a:spcAft>
                <a:spcPts val="400"/>
              </a:spcAft>
              <a:buNone/>
            </a:pPr>
            <a:r>
              <a:rPr lang="en-US" sz="1000" dirty="0">
                <a:solidFill>
                  <a:schemeClr val="tx1"/>
                </a:solidFill>
              </a:rPr>
              <a:t>Karlsson, L. (2026) </a:t>
            </a:r>
            <a:pPr indent="0" marL="0">
              <a:spcAft>
                <a:spcPts val="400"/>
              </a:spcAft>
              <a:buNone/>
            </a:pPr>
            <a:r>
              <a:rPr lang="en-US" sz="1000" i="1" dirty="0">
                <a:solidFill>
                  <a:schemeClr val="tx1"/>
                </a:solidFill>
              </a:rPr>
              <a:t>AI-driven multi-label attribute prediction for augmentative and alternative communication symbols</a:t>
            </a:r>
            <a:pPr indent="0" marL="0">
              <a:spcAft>
                <a:spcPts val="400"/>
              </a:spcAft>
              <a:buNone/>
            </a:pPr>
            <a:r>
              <a:rPr lang="en-US" sz="1000" dirty="0">
                <a:solidFill>
                  <a:schemeClr val="tx1"/>
                </a:solidFill>
              </a:rPr>
              <a:t>. MSc thesis. Örebro University.</a:t>
            </a:r>
            <a:endParaRPr lang="en-US" sz="1000" dirty="0"/>
          </a:p>
        </p:txBody>
      </p:sp>
      <p:sp>
        <p:nvSpPr>
          <p:cNvPr id="4" name="Text 2"/>
          <p:cNvSpPr txBox="1"/>
          <p:nvPr/>
        </p:nvSpPr>
        <p:spPr>
          <a:xfrm>
            <a:off x="4663440" y="960120"/>
            <a:ext cx="4023360" cy="3794760"/>
          </a:xfrm>
          <a:prstGeom prst="rect">
            <a:avLst/>
          </a:prstGeom>
          <a:noFill/>
          <a:ln/>
        </p:spPr>
        <p:txBody>
          <a:bodyPr wrap="square" lIns="0" tIns="0" rIns="0" bIns="0" rtlCol="0" anchor="t"/>
          <a:lstStyle/>
          <a:p>
            <a:pPr indent="0" marL="0">
              <a:spcAft>
                <a:spcPts val="400"/>
              </a:spcAft>
              <a:buNone/>
            </a:pPr>
            <a:r>
              <a:rPr lang="en-US" sz="1000" dirty="0">
                <a:solidFill>
                  <a:schemeClr val="tx1"/>
                </a:solidFill>
              </a:rPr>
              <a:t>Razavian, A.S., Azizpour, H., Sullivan, J. and Carlsson, S. (2014) 'CNN features off-the-shelf: an astounding baseline for recognition', </a:t>
            </a:r>
            <a:pPr indent="0" marL="0">
              <a:spcAft>
                <a:spcPts val="400"/>
              </a:spcAft>
              <a:buNone/>
            </a:pPr>
            <a:r>
              <a:rPr lang="en-US" sz="1000" i="1" dirty="0">
                <a:solidFill>
                  <a:schemeClr val="tx1"/>
                </a:solidFill>
              </a:rPr>
              <a:t>arXiv</a:t>
            </a:r>
            <a:pPr indent="0" marL="0">
              <a:spcAft>
                <a:spcPts val="400"/>
              </a:spcAft>
              <a:buNone/>
            </a:pPr>
            <a:r>
              <a:rPr lang="en-US" sz="1000" dirty="0">
                <a:solidFill>
                  <a:schemeClr val="tx1"/>
                </a:solidFill>
              </a:rPr>
              <a:t>. Available at: https://arxiv.org/abs/1403.6382.</a:t>
            </a:r>
            <a:endParaRPr lang="en-US" sz="1000" dirty="0"/>
          </a:p>
          <a:p>
            <a:pPr indent="0" marL="0">
              <a:spcAft>
                <a:spcPts val="400"/>
              </a:spcAft>
              <a:buNone/>
            </a:pPr>
            <a:r>
              <a:rPr lang="en-US" sz="1000" dirty="0">
                <a:solidFill>
                  <a:schemeClr val="tx1"/>
                </a:solidFill>
              </a:rPr>
              <a:t>Ribeiro, M.T., Singh, S. and Guestrin, C. (2016) '“Why should I trust you?”: explaining the predictions of any classifier', </a:t>
            </a:r>
            <a:pPr indent="0" marL="0">
              <a:spcAft>
                <a:spcPts val="400"/>
              </a:spcAft>
              <a:buNone/>
            </a:pPr>
            <a:r>
              <a:rPr lang="en-US" sz="1000" i="1" dirty="0">
                <a:solidFill>
                  <a:schemeClr val="tx1"/>
                </a:solidFill>
              </a:rPr>
              <a:t>arXiv</a:t>
            </a:r>
            <a:pPr indent="0" marL="0">
              <a:spcAft>
                <a:spcPts val="400"/>
              </a:spcAft>
              <a:buNone/>
            </a:pPr>
            <a:r>
              <a:rPr lang="en-US" sz="1000" dirty="0">
                <a:solidFill>
                  <a:schemeClr val="tx1"/>
                </a:solidFill>
              </a:rPr>
              <a:t>. Available at: https://arxiv.org/abs/1602.04938.</a:t>
            </a:r>
            <a:endParaRPr lang="en-US" sz="1000" dirty="0"/>
          </a:p>
          <a:p>
            <a:pPr indent="0" marL="0">
              <a:spcAft>
                <a:spcPts val="400"/>
              </a:spcAft>
              <a:buNone/>
            </a:pPr>
            <a:r>
              <a:rPr lang="en-US" sz="1000" dirty="0">
                <a:solidFill>
                  <a:schemeClr val="tx1"/>
                </a:solidFill>
              </a:rPr>
              <a:t>Selvaraju, R.R., Cogswell, M., Das, A., Vedantam, R., Parikh, D. and Batra, D. (2019) 'Grad-CAM: visual explanations from deep networks via gradient-based localization', </a:t>
            </a:r>
            <a:pPr indent="0" marL="0">
              <a:spcAft>
                <a:spcPts val="400"/>
              </a:spcAft>
              <a:buNone/>
            </a:pPr>
            <a:r>
              <a:rPr lang="en-US" sz="1000" i="1" dirty="0">
                <a:solidFill>
                  <a:schemeClr val="tx1"/>
                </a:solidFill>
              </a:rPr>
              <a:t>International Journal of Computer Vision</a:t>
            </a:r>
            <a:pPr indent="0" marL="0">
              <a:spcAft>
                <a:spcPts val="400"/>
              </a:spcAft>
              <a:buNone/>
            </a:pPr>
            <a:r>
              <a:rPr lang="en-US" sz="1000" dirty="0">
                <a:solidFill>
                  <a:schemeClr val="tx1"/>
                </a:solidFill>
              </a:rPr>
              <a:t>. Available at: https://arxiv.org/abs/1610.02391.</a:t>
            </a:r>
            <a:endParaRPr lang="en-US" sz="1000" dirty="0"/>
          </a:p>
          <a:p>
            <a:pPr indent="0" marL="0">
              <a:spcAft>
                <a:spcPts val="400"/>
              </a:spcAft>
              <a:buNone/>
            </a:pPr>
            <a:r>
              <a:rPr lang="en-US" sz="1000" dirty="0">
                <a:solidFill>
                  <a:schemeClr val="tx1"/>
                </a:solidFill>
              </a:rPr>
              <a:t>Singer, J.J.D., Seeliger, K., Kietzmann, T.C. and Hebart, M.N. (2022) 'From photos to sketches: how humans and deep neural networks process objects across different levels of visual abstraction', </a:t>
            </a:r>
            <a:pPr indent="0" marL="0">
              <a:spcAft>
                <a:spcPts val="400"/>
              </a:spcAft>
              <a:buNone/>
            </a:pPr>
            <a:r>
              <a:rPr lang="en-US" sz="1000" i="1" dirty="0">
                <a:solidFill>
                  <a:schemeClr val="tx1"/>
                </a:solidFill>
              </a:rPr>
              <a:t>Journal of Vision</a:t>
            </a:r>
            <a:pPr indent="0" marL="0">
              <a:spcAft>
                <a:spcPts val="400"/>
              </a:spcAft>
              <a:buNone/>
            </a:pPr>
            <a:r>
              <a:rPr lang="en-US" sz="1000" dirty="0">
                <a:solidFill>
                  <a:schemeClr val="tx1"/>
                </a:solidFill>
              </a:rPr>
              <a:t>, 22(2). Available at: https://doi.org/10.1167/jov.22.2.4.</a:t>
            </a:r>
            <a:endParaRPr lang="en-US" sz="1000" dirty="0"/>
          </a:p>
          <a:p>
            <a:pPr indent="0" marL="0">
              <a:spcAft>
                <a:spcPts val="400"/>
              </a:spcAft>
              <a:buNone/>
            </a:pPr>
            <a:r>
              <a:rPr lang="en-US" sz="1000" dirty="0">
                <a:solidFill>
                  <a:schemeClr val="tx1"/>
                </a:solidFill>
              </a:rPr>
              <a:t>Smith, L.N. (2017) 'Cyclical learning rates for training neural networks', </a:t>
            </a:r>
            <a:pPr indent="0" marL="0">
              <a:spcAft>
                <a:spcPts val="400"/>
              </a:spcAft>
              <a:buNone/>
            </a:pPr>
            <a:r>
              <a:rPr lang="en-US" sz="1000" i="1" dirty="0">
                <a:solidFill>
                  <a:schemeClr val="tx1"/>
                </a:solidFill>
              </a:rPr>
              <a:t>IEEE WACV 2017</a:t>
            </a:r>
            <a:pPr indent="0" marL="0">
              <a:spcAft>
                <a:spcPts val="400"/>
              </a:spcAft>
              <a:buNone/>
            </a:pPr>
            <a:r>
              <a:rPr lang="en-US" sz="1000" dirty="0">
                <a:solidFill>
                  <a:schemeClr val="tx1"/>
                </a:solidFill>
              </a:rPr>
              <a:t>. Available at: https://arxiv.org/abs/1506.01186.</a:t>
            </a:r>
            <a:endParaRPr lang="en-US" sz="1000" dirty="0"/>
          </a:p>
          <a:p>
            <a:pPr indent="0" marL="0">
              <a:spcAft>
                <a:spcPts val="400"/>
              </a:spcAft>
              <a:buNone/>
            </a:pPr>
            <a:r>
              <a:rPr lang="en-US" sz="1000" dirty="0">
                <a:solidFill>
                  <a:schemeClr val="tx1"/>
                </a:solidFill>
              </a:rPr>
              <a:t>Yeh, A. (2000) 'More accurate tests for the statistical significance of result differences', </a:t>
            </a:r>
            <a:pPr indent="0" marL="0">
              <a:spcAft>
                <a:spcPts val="400"/>
              </a:spcAft>
              <a:buNone/>
            </a:pPr>
            <a:r>
              <a:rPr lang="en-US" sz="1000" i="1" dirty="0">
                <a:solidFill>
                  <a:schemeClr val="tx1"/>
                </a:solidFill>
              </a:rPr>
              <a:t>COLING 2000</a:t>
            </a:r>
            <a:pPr indent="0" marL="0">
              <a:spcAft>
                <a:spcPts val="400"/>
              </a:spcAft>
              <a:buNone/>
            </a:pPr>
            <a:r>
              <a:rPr lang="en-US" sz="1000" dirty="0">
                <a:solidFill>
                  <a:schemeClr val="tx1"/>
                </a:solidFill>
              </a:rPr>
              <a:t>. Available at: https://arxiv.org/abs/cs/0008005.</a:t>
            </a:r>
            <a:endParaRPr lang="en-US" sz="10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Backup slides</a:t>
            </a:r>
            <a:endParaRPr lang="en-US" sz="3000" dirty="0"/>
          </a:p>
        </p:txBody>
      </p:sp>
      <p:sp>
        <p:nvSpPr>
          <p:cNvPr id="3" name="Text 1"/>
          <p:cNvSpPr txBox="1"/>
          <p:nvPr/>
        </p:nvSpPr>
        <p:spPr>
          <a:xfrm>
            <a:off x="548640" y="1371600"/>
            <a:ext cx="8046720" cy="457200"/>
          </a:xfrm>
          <a:prstGeom prst="rect">
            <a:avLst/>
          </a:prstGeom>
          <a:noFill/>
          <a:ln/>
        </p:spPr>
        <p:txBody>
          <a:bodyPr wrap="square" lIns="0" tIns="0" rIns="0" bIns="0" rtlCol="0" anchor="ctr"/>
          <a:lstStyle/>
          <a:p>
            <a:pPr indent="0" marL="0">
              <a:buNone/>
            </a:pPr>
            <a:r>
              <a:rPr lang="en-US" sz="1600" dirty="0">
                <a:solidFill>
                  <a:srgbClr val="D6DCE5"/>
                </a:solidFill>
              </a:rPr>
              <a:t>Only if asked: all ten models, early stopping, and where the indicator marks sit</a:t>
            </a:r>
            <a:endParaRPr lang="en-US" sz="1600" dirty="0"/>
          </a:p>
        </p:txBody>
      </p:sp>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AB4C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08_leaderboard.png" descr="All ten models, cross-validated">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16_loss_curves.png" descr="Early stopping keeps the best weights">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04_indicator_band.png" descr="Indicators sit in a fixed band above the symbol">    </p:cNvPr>
          <p:cNvPicPr>
            <a:picLocks noChangeAspect="1"/>
          </p:cNvPicPr>
          <p:nvPr/>
        </p:nvPicPr>
        <p:blipFill>
          <a:blip r:embed="rId1"/>
          <a:stretch>
            <a:fillRect/>
          </a:stretch>
        </p:blipFill>
        <p:spPr>
          <a:xfrm>
            <a:off x="228600" y="0"/>
            <a:ext cx="8686800" cy="4886325"/>
          </a:xfrm>
          <a:prstGeom prst="rect">
            <a:avLst/>
          </a:prstGeom>
        </p:spPr>
      </p:pic>
      <p:sp>
        <p:nvSpPr>
          <p:cNvPr id="25" name="Slide Number Placeholder 0"/>
          <p:cNvSpPr>
            <a:spLocks noGrp="1"/>
          </p:cNvSpPr>
          <p:nvPr>
            <p:ph type="sldNum" sz="quarter" idx="4294967295"/>
          </p:nvPr>
        </p:nvSpPr>
        <p:spPr>
          <a:xfrm>
            <a:off x="8321040" y="4873752"/>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Bliss Word Class">
  <a:themeElements>
    <a:clrScheme name="Bliss Word Class">
      <a:dk1>
        <a:srgbClr val="1F1F1F"/>
      </a:dk1>
      <a:lt1>
        <a:srgbClr val="FFFFFF"/>
      </a:lt1>
      <a:dk2>
        <a:srgbClr val="16202E"/>
      </a:dk2>
      <a:lt2>
        <a:srgbClr val="F2F4F7"/>
      </a:lt2>
      <a:accent1>
        <a:srgbClr val="EDA100"/>
      </a:accent1>
      <a:accent2>
        <a:srgbClr val="D93C3C"/>
      </a:accent2>
      <a:accent3>
        <a:srgbClr val="2A78D6"/>
      </a:accent3>
      <a:accent4>
        <a:srgbClr val="128A12"/>
      </a:accent4>
      <a:accent5>
        <a:srgbClr val="6B6B6B"/>
      </a:accent5>
      <a:accent6>
        <a:srgbClr val="1BAF7A"/>
      </a:accent6>
      <a:hlink>
        <a:srgbClr val="2A78D6"/>
      </a:hlink>
      <a:folHlink>
        <a:srgbClr val="6B6B6B"/>
      </a:folHlink>
    </a:clrScheme>
    <a:fontScheme name="Bliss Word Clas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 model read the word class off a Bliss symbol?</dc:title>
  <dc:subject>PptxGenJS Presentation</dc:subject>
  <dc:creator>Zee Mehmood</dc:creator>
  <cp:lastModifiedBy>Zee Mehmood</cp:lastModifiedBy>
  <cp:revision>1</cp:revision>
  <dcterms:created xsi:type="dcterms:W3CDTF">2026-10-10T10:08:56Z</dcterms:created>
  <dcterms:modified xsi:type="dcterms:W3CDTF">2026-10-10T10:08:56Z</dcterms:modified>
</cp:coreProperties>
</file>